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5143500" cx="9144000"/>
  <p:notesSz cx="5143500" cy="9144000"/>
  <p:embeddedFontLst>
    <p:embeddedFont>
      <p:font typeface="Arial Black"/>
      <p:regular r:id="rId1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schemas.openxmlformats.org/officeDocument/2006/relationships/font" Target="fonts/ArialBlack-regular.fntdata"/><Relationship Id="rId10" Type="http://schemas.openxmlformats.org/officeDocument/2006/relationships/slide" Target="slides/slide6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1" name="Google Shape;27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1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Google Shape;16;p3"/>
          <p:cNvCxnSpPr/>
          <p:nvPr/>
        </p:nvCxnSpPr>
        <p:spPr>
          <a:xfrm>
            <a:off x="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A2A45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7" name="Google Shape;17;p3"/>
          <p:cNvCxnSpPr/>
          <p:nvPr/>
        </p:nvCxnSpPr>
        <p:spPr>
          <a:xfrm>
            <a:off x="11430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A2A45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8" name="Google Shape;18;p3"/>
          <p:cNvCxnSpPr/>
          <p:nvPr/>
        </p:nvCxnSpPr>
        <p:spPr>
          <a:xfrm>
            <a:off x="22860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A2A45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9" name="Google Shape;19;p3"/>
          <p:cNvCxnSpPr/>
          <p:nvPr/>
        </p:nvCxnSpPr>
        <p:spPr>
          <a:xfrm>
            <a:off x="34290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A2A45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0" name="Google Shape;20;p3"/>
          <p:cNvCxnSpPr/>
          <p:nvPr/>
        </p:nvCxnSpPr>
        <p:spPr>
          <a:xfrm>
            <a:off x="45720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A2A45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1" name="Google Shape;21;p3"/>
          <p:cNvCxnSpPr/>
          <p:nvPr/>
        </p:nvCxnSpPr>
        <p:spPr>
          <a:xfrm>
            <a:off x="57150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A2A45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2" name="Google Shape;22;p3"/>
          <p:cNvCxnSpPr/>
          <p:nvPr/>
        </p:nvCxnSpPr>
        <p:spPr>
          <a:xfrm>
            <a:off x="68580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A2A45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3" name="Google Shape;23;p3"/>
          <p:cNvCxnSpPr/>
          <p:nvPr/>
        </p:nvCxnSpPr>
        <p:spPr>
          <a:xfrm>
            <a:off x="80010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A2A45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4" name="Google Shape;24;p3"/>
          <p:cNvCxnSpPr/>
          <p:nvPr/>
        </p:nvCxnSpPr>
        <p:spPr>
          <a:xfrm>
            <a:off x="91440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A2A45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5" name="Google Shape;25;p3"/>
          <p:cNvCxnSpPr/>
          <p:nvPr/>
        </p:nvCxnSpPr>
        <p:spPr>
          <a:xfrm>
            <a:off x="0" y="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2A2A45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6" name="Google Shape;26;p3"/>
          <p:cNvCxnSpPr/>
          <p:nvPr/>
        </p:nvCxnSpPr>
        <p:spPr>
          <a:xfrm>
            <a:off x="0" y="128016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2A2A45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7" name="Google Shape;27;p3"/>
          <p:cNvCxnSpPr/>
          <p:nvPr/>
        </p:nvCxnSpPr>
        <p:spPr>
          <a:xfrm>
            <a:off x="0" y="256032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2A2A45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8" name="Google Shape;28;p3"/>
          <p:cNvCxnSpPr/>
          <p:nvPr/>
        </p:nvCxnSpPr>
        <p:spPr>
          <a:xfrm>
            <a:off x="0" y="384048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2A2A45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9" name="Google Shape;29;p3"/>
          <p:cNvCxnSpPr/>
          <p:nvPr/>
        </p:nvCxnSpPr>
        <p:spPr>
          <a:xfrm>
            <a:off x="0" y="512064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2A2A45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30" name="Google Shape;30;p3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5C518"/>
          </a:solidFill>
          <a:ln cap="flat" cmpd="sng" w="12700">
            <a:solidFill>
              <a:srgbClr val="F5C5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3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7722"/>
          </a:solidFill>
          <a:ln cap="flat" cmpd="sng" w="12700">
            <a:solidFill>
              <a:srgbClr val="E877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3"/>
          <p:cNvSpPr/>
          <p:nvPr/>
        </p:nvSpPr>
        <p:spPr>
          <a:xfrm>
            <a:off x="1344168" y="2450592"/>
            <a:ext cx="146304" cy="402336"/>
          </a:xfrm>
          <a:prstGeom prst="rect">
            <a:avLst/>
          </a:prstGeom>
          <a:solidFill>
            <a:srgbClr val="F5C518"/>
          </a:solidFill>
          <a:ln cap="flat" cmpd="sng" w="12700">
            <a:solidFill>
              <a:srgbClr val="F5C5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3"/>
          <p:cNvSpPr/>
          <p:nvPr/>
        </p:nvSpPr>
        <p:spPr>
          <a:xfrm rot="3600000">
            <a:off x="1001268" y="3044512"/>
            <a:ext cx="146304" cy="402336"/>
          </a:xfrm>
          <a:prstGeom prst="rect">
            <a:avLst/>
          </a:prstGeom>
          <a:solidFill>
            <a:srgbClr val="F5C518"/>
          </a:solidFill>
          <a:ln cap="flat" cmpd="sng" w="12700">
            <a:solidFill>
              <a:srgbClr val="F5C5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3"/>
          <p:cNvSpPr/>
          <p:nvPr/>
        </p:nvSpPr>
        <p:spPr>
          <a:xfrm rot="7200000">
            <a:off x="315468" y="3044512"/>
            <a:ext cx="146304" cy="402336"/>
          </a:xfrm>
          <a:prstGeom prst="rect">
            <a:avLst/>
          </a:prstGeom>
          <a:solidFill>
            <a:srgbClr val="F5C518"/>
          </a:solidFill>
          <a:ln cap="flat" cmpd="sng" w="12700">
            <a:solidFill>
              <a:srgbClr val="F5C5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3"/>
          <p:cNvSpPr/>
          <p:nvPr/>
        </p:nvSpPr>
        <p:spPr>
          <a:xfrm rot="10800000">
            <a:off x="-27432" y="2450592"/>
            <a:ext cx="146304" cy="402336"/>
          </a:xfrm>
          <a:prstGeom prst="rect">
            <a:avLst/>
          </a:prstGeom>
          <a:solidFill>
            <a:srgbClr val="F5C518"/>
          </a:solidFill>
          <a:ln cap="flat" cmpd="sng" w="12700">
            <a:solidFill>
              <a:srgbClr val="F5C5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3"/>
          <p:cNvSpPr/>
          <p:nvPr/>
        </p:nvSpPr>
        <p:spPr>
          <a:xfrm rot="-7200000">
            <a:off x="315468" y="1856672"/>
            <a:ext cx="146304" cy="402336"/>
          </a:xfrm>
          <a:prstGeom prst="rect">
            <a:avLst/>
          </a:prstGeom>
          <a:solidFill>
            <a:srgbClr val="F5C518"/>
          </a:solidFill>
          <a:ln cap="flat" cmpd="sng" w="12700">
            <a:solidFill>
              <a:srgbClr val="F5C5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3"/>
          <p:cNvSpPr/>
          <p:nvPr/>
        </p:nvSpPr>
        <p:spPr>
          <a:xfrm rot="-3600000">
            <a:off x="1001268" y="1856672"/>
            <a:ext cx="146304" cy="402336"/>
          </a:xfrm>
          <a:prstGeom prst="rect">
            <a:avLst/>
          </a:prstGeom>
          <a:solidFill>
            <a:srgbClr val="F5C518"/>
          </a:solidFill>
          <a:ln cap="flat" cmpd="sng" w="12700">
            <a:solidFill>
              <a:srgbClr val="F5C5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3"/>
          <p:cNvSpPr/>
          <p:nvPr/>
        </p:nvSpPr>
        <p:spPr>
          <a:xfrm>
            <a:off x="422910" y="2343150"/>
            <a:ext cx="617220" cy="617220"/>
          </a:xfrm>
          <a:prstGeom prst="ellipse">
            <a:avLst/>
          </a:prstGeom>
          <a:solidFill>
            <a:srgbClr val="F5C518"/>
          </a:solidFill>
          <a:ln cap="flat" cmpd="sng" w="38100">
            <a:solidFill>
              <a:srgbClr val="0D0D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3"/>
          <p:cNvSpPr/>
          <p:nvPr/>
        </p:nvSpPr>
        <p:spPr>
          <a:xfrm>
            <a:off x="8796528" y="1170432"/>
            <a:ext cx="146304" cy="402336"/>
          </a:xfrm>
          <a:prstGeom prst="rect">
            <a:avLst/>
          </a:prstGeom>
          <a:solidFill>
            <a:srgbClr val="E87722"/>
          </a:solidFill>
          <a:ln cap="flat" cmpd="sng" w="12700">
            <a:solidFill>
              <a:srgbClr val="E877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3"/>
          <p:cNvSpPr/>
          <p:nvPr/>
        </p:nvSpPr>
        <p:spPr>
          <a:xfrm rot="3600000">
            <a:off x="8567928" y="1566379"/>
            <a:ext cx="146304" cy="402336"/>
          </a:xfrm>
          <a:prstGeom prst="rect">
            <a:avLst/>
          </a:prstGeom>
          <a:solidFill>
            <a:srgbClr val="E87722"/>
          </a:solidFill>
          <a:ln cap="flat" cmpd="sng" w="12700">
            <a:solidFill>
              <a:srgbClr val="E877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3"/>
          <p:cNvSpPr/>
          <p:nvPr/>
        </p:nvSpPr>
        <p:spPr>
          <a:xfrm rot="7200000">
            <a:off x="8110728" y="1566379"/>
            <a:ext cx="146304" cy="402336"/>
          </a:xfrm>
          <a:prstGeom prst="rect">
            <a:avLst/>
          </a:prstGeom>
          <a:solidFill>
            <a:srgbClr val="E87722"/>
          </a:solidFill>
          <a:ln cap="flat" cmpd="sng" w="12700">
            <a:solidFill>
              <a:srgbClr val="E877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3"/>
          <p:cNvSpPr/>
          <p:nvPr/>
        </p:nvSpPr>
        <p:spPr>
          <a:xfrm rot="10800000">
            <a:off x="7882128" y="1170432"/>
            <a:ext cx="146304" cy="402336"/>
          </a:xfrm>
          <a:prstGeom prst="rect">
            <a:avLst/>
          </a:prstGeom>
          <a:solidFill>
            <a:srgbClr val="E87722"/>
          </a:solidFill>
          <a:ln cap="flat" cmpd="sng" w="12700">
            <a:solidFill>
              <a:srgbClr val="E877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3"/>
          <p:cNvSpPr/>
          <p:nvPr/>
        </p:nvSpPr>
        <p:spPr>
          <a:xfrm rot="-7200000">
            <a:off x="8110728" y="774485"/>
            <a:ext cx="146304" cy="402336"/>
          </a:xfrm>
          <a:prstGeom prst="rect">
            <a:avLst/>
          </a:prstGeom>
          <a:solidFill>
            <a:srgbClr val="E87722"/>
          </a:solidFill>
          <a:ln cap="flat" cmpd="sng" w="12700">
            <a:solidFill>
              <a:srgbClr val="E877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3"/>
          <p:cNvSpPr/>
          <p:nvPr/>
        </p:nvSpPr>
        <p:spPr>
          <a:xfrm rot="-3600000">
            <a:off x="8567928" y="774485"/>
            <a:ext cx="146304" cy="402336"/>
          </a:xfrm>
          <a:prstGeom prst="rect">
            <a:avLst/>
          </a:prstGeom>
          <a:solidFill>
            <a:srgbClr val="E87722"/>
          </a:solidFill>
          <a:ln cap="flat" cmpd="sng" w="12700">
            <a:solidFill>
              <a:srgbClr val="E877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3"/>
          <p:cNvSpPr/>
          <p:nvPr/>
        </p:nvSpPr>
        <p:spPr>
          <a:xfrm>
            <a:off x="8206740" y="1165860"/>
            <a:ext cx="411480" cy="411480"/>
          </a:xfrm>
          <a:prstGeom prst="ellipse">
            <a:avLst/>
          </a:prstGeom>
          <a:solidFill>
            <a:srgbClr val="E87722"/>
          </a:solidFill>
          <a:ln cap="flat" cmpd="sng" w="38100">
            <a:solidFill>
              <a:srgbClr val="0D0D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3"/>
          <p:cNvSpPr/>
          <p:nvPr/>
        </p:nvSpPr>
        <p:spPr>
          <a:xfrm>
            <a:off x="8476488" y="3639312"/>
            <a:ext cx="146304" cy="402336"/>
          </a:xfrm>
          <a:prstGeom prst="rect">
            <a:avLst/>
          </a:prstGeom>
          <a:solidFill>
            <a:srgbClr val="CC2222"/>
          </a:solidFill>
          <a:ln cap="flat" cmpd="sng" w="12700">
            <a:solidFill>
              <a:srgbClr val="CC22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3"/>
          <p:cNvSpPr/>
          <p:nvPr/>
        </p:nvSpPr>
        <p:spPr>
          <a:xfrm rot="3600000">
            <a:off x="8316468" y="3916475"/>
            <a:ext cx="146304" cy="402336"/>
          </a:xfrm>
          <a:prstGeom prst="rect">
            <a:avLst/>
          </a:prstGeom>
          <a:solidFill>
            <a:srgbClr val="CC2222"/>
          </a:solidFill>
          <a:ln cap="flat" cmpd="sng" w="12700">
            <a:solidFill>
              <a:srgbClr val="CC22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3"/>
          <p:cNvSpPr/>
          <p:nvPr/>
        </p:nvSpPr>
        <p:spPr>
          <a:xfrm rot="7200000">
            <a:off x="7996428" y="3916475"/>
            <a:ext cx="146304" cy="402336"/>
          </a:xfrm>
          <a:prstGeom prst="rect">
            <a:avLst/>
          </a:prstGeom>
          <a:solidFill>
            <a:srgbClr val="CC2222"/>
          </a:solidFill>
          <a:ln cap="flat" cmpd="sng" w="12700">
            <a:solidFill>
              <a:srgbClr val="CC22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3"/>
          <p:cNvSpPr/>
          <p:nvPr/>
        </p:nvSpPr>
        <p:spPr>
          <a:xfrm rot="10800000">
            <a:off x="7836408" y="3639312"/>
            <a:ext cx="146304" cy="402336"/>
          </a:xfrm>
          <a:prstGeom prst="rect">
            <a:avLst/>
          </a:prstGeom>
          <a:solidFill>
            <a:srgbClr val="CC2222"/>
          </a:solidFill>
          <a:ln cap="flat" cmpd="sng" w="12700">
            <a:solidFill>
              <a:srgbClr val="CC22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3"/>
          <p:cNvSpPr/>
          <p:nvPr/>
        </p:nvSpPr>
        <p:spPr>
          <a:xfrm rot="-7200000">
            <a:off x="7996428" y="3362149"/>
            <a:ext cx="146304" cy="402336"/>
          </a:xfrm>
          <a:prstGeom prst="rect">
            <a:avLst/>
          </a:prstGeom>
          <a:solidFill>
            <a:srgbClr val="CC2222"/>
          </a:solidFill>
          <a:ln cap="flat" cmpd="sng" w="12700">
            <a:solidFill>
              <a:srgbClr val="CC22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3"/>
          <p:cNvSpPr/>
          <p:nvPr/>
        </p:nvSpPr>
        <p:spPr>
          <a:xfrm rot="-3600000">
            <a:off x="8316468" y="3362149"/>
            <a:ext cx="146304" cy="402336"/>
          </a:xfrm>
          <a:prstGeom prst="rect">
            <a:avLst/>
          </a:prstGeom>
          <a:solidFill>
            <a:srgbClr val="CC2222"/>
          </a:solidFill>
          <a:ln cap="flat" cmpd="sng" w="12700">
            <a:solidFill>
              <a:srgbClr val="CC22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3"/>
          <p:cNvSpPr/>
          <p:nvPr/>
        </p:nvSpPr>
        <p:spPr>
          <a:xfrm>
            <a:off x="8085582" y="3696462"/>
            <a:ext cx="288036" cy="288036"/>
          </a:xfrm>
          <a:prstGeom prst="ellipse">
            <a:avLst/>
          </a:prstGeom>
          <a:solidFill>
            <a:srgbClr val="CC2222"/>
          </a:solidFill>
          <a:ln cap="flat" cmpd="sng" w="38100">
            <a:solidFill>
              <a:srgbClr val="0D0D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3"/>
          <p:cNvSpPr/>
          <p:nvPr/>
        </p:nvSpPr>
        <p:spPr>
          <a:xfrm>
            <a:off x="3474720" y="228600"/>
            <a:ext cx="2194560" cy="502920"/>
          </a:xfrm>
          <a:prstGeom prst="rect">
            <a:avLst/>
          </a:prstGeom>
          <a:solidFill>
            <a:srgbClr val="F5C518"/>
          </a:solidFill>
          <a:ln cap="flat" cmpd="sng" w="12700">
            <a:solidFill>
              <a:srgbClr val="F5C5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3"/>
          <p:cNvSpPr/>
          <p:nvPr/>
        </p:nvSpPr>
        <p:spPr>
          <a:xfrm>
            <a:off x="3474720" y="228600"/>
            <a:ext cx="2194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0D1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D0D1A"/>
                </a:solidFill>
                <a:latin typeface="Calibri"/>
                <a:ea typeface="Calibri"/>
                <a:cs typeface="Calibri"/>
                <a:sym typeface="Calibri"/>
              </a:rPr>
              <a:t>FIRST LEGO LEAGUE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1371600" y="868680"/>
            <a:ext cx="6400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772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E87722"/>
                </a:solidFill>
                <a:latin typeface="Calibri"/>
                <a:ea typeface="Calibri"/>
                <a:cs typeface="Calibri"/>
                <a:sym typeface="Calibri"/>
              </a:rPr>
              <a:t>UNEARTHED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1371600" y="1417320"/>
            <a:ext cx="64008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4400"/>
              <a:buFont typeface="Arial Black"/>
              <a:buNone/>
            </a:pPr>
            <a:r>
              <a:rPr b="1" i="0" lang="en-US" sz="4400" u="none" cap="none" strike="noStrike">
                <a:solidFill>
                  <a:srgbClr val="F4F4F4"/>
                </a:solidFill>
                <a:latin typeface="Arial Black"/>
                <a:ea typeface="Arial Black"/>
                <a:cs typeface="Arial Black"/>
                <a:sym typeface="Arial Black"/>
              </a:rPr>
              <a:t>ROBOT DESIGN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4400"/>
              <a:buFont typeface="Arial Black"/>
              <a:buNone/>
            </a:pPr>
            <a:r>
              <a:rPr b="1" i="0" lang="en-US" sz="4400" u="none" cap="none" strike="noStrike">
                <a:solidFill>
                  <a:srgbClr val="F4F4F4"/>
                </a:solidFill>
                <a:latin typeface="Arial Black"/>
                <a:ea typeface="Arial Black"/>
                <a:cs typeface="Arial Black"/>
                <a:sym typeface="Arial Black"/>
              </a:rPr>
              <a:t>PRESENTATION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1371600" y="329184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898B8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9898B8"/>
                </a:solidFill>
                <a:latin typeface="Calibri"/>
                <a:ea typeface="Calibri"/>
                <a:cs typeface="Calibri"/>
                <a:sym typeface="Calibri"/>
              </a:rPr>
              <a:t>Multi-Directional Movement  ·  Gear Ratio Control  ·  Variable Torque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1371600" y="3886200"/>
            <a:ext cx="256032" cy="256032"/>
          </a:xfrm>
          <a:prstGeom prst="ellipse">
            <a:avLst/>
          </a:prstGeom>
          <a:solidFill>
            <a:srgbClr val="F5C518">
              <a:alpha val="60000"/>
            </a:srgbClr>
          </a:solidFill>
          <a:ln cap="flat" cmpd="sng" w="12700">
            <a:solidFill>
              <a:srgbClr val="F5C5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3"/>
          <p:cNvSpPr/>
          <p:nvPr/>
        </p:nvSpPr>
        <p:spPr>
          <a:xfrm>
            <a:off x="2286000" y="3886200"/>
            <a:ext cx="256032" cy="256032"/>
          </a:xfrm>
          <a:prstGeom prst="ellipse">
            <a:avLst/>
          </a:prstGeom>
          <a:solidFill>
            <a:srgbClr val="F5C518">
              <a:alpha val="60000"/>
            </a:srgbClr>
          </a:solidFill>
          <a:ln cap="flat" cmpd="sng" w="12700">
            <a:solidFill>
              <a:srgbClr val="F5C5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3"/>
          <p:cNvSpPr/>
          <p:nvPr/>
        </p:nvSpPr>
        <p:spPr>
          <a:xfrm>
            <a:off x="3200400" y="3886200"/>
            <a:ext cx="256032" cy="256032"/>
          </a:xfrm>
          <a:prstGeom prst="ellipse">
            <a:avLst/>
          </a:prstGeom>
          <a:solidFill>
            <a:srgbClr val="F5C518">
              <a:alpha val="60000"/>
            </a:srgbClr>
          </a:solidFill>
          <a:ln cap="flat" cmpd="sng" w="12700">
            <a:solidFill>
              <a:srgbClr val="F5C5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3"/>
          <p:cNvSpPr/>
          <p:nvPr/>
        </p:nvSpPr>
        <p:spPr>
          <a:xfrm>
            <a:off x="4114800" y="3886200"/>
            <a:ext cx="256032" cy="256032"/>
          </a:xfrm>
          <a:prstGeom prst="ellipse">
            <a:avLst/>
          </a:prstGeom>
          <a:solidFill>
            <a:srgbClr val="F5C518">
              <a:alpha val="60000"/>
            </a:srgbClr>
          </a:solidFill>
          <a:ln cap="flat" cmpd="sng" w="12700">
            <a:solidFill>
              <a:srgbClr val="F5C5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3"/>
          <p:cNvSpPr/>
          <p:nvPr/>
        </p:nvSpPr>
        <p:spPr>
          <a:xfrm>
            <a:off x="5029200" y="3886200"/>
            <a:ext cx="256032" cy="256032"/>
          </a:xfrm>
          <a:prstGeom prst="ellipse">
            <a:avLst/>
          </a:prstGeom>
          <a:solidFill>
            <a:srgbClr val="F5C518">
              <a:alpha val="60000"/>
            </a:srgbClr>
          </a:solidFill>
          <a:ln cap="flat" cmpd="sng" w="12700">
            <a:solidFill>
              <a:srgbClr val="F5C5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3"/>
          <p:cNvSpPr/>
          <p:nvPr/>
        </p:nvSpPr>
        <p:spPr>
          <a:xfrm>
            <a:off x="5943600" y="3886200"/>
            <a:ext cx="256032" cy="256032"/>
          </a:xfrm>
          <a:prstGeom prst="ellipse">
            <a:avLst/>
          </a:prstGeom>
          <a:solidFill>
            <a:srgbClr val="F5C518">
              <a:alpha val="60000"/>
            </a:srgbClr>
          </a:solidFill>
          <a:ln cap="flat" cmpd="sng" w="12700">
            <a:solidFill>
              <a:srgbClr val="F5C5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3"/>
          <p:cNvSpPr/>
          <p:nvPr/>
        </p:nvSpPr>
        <p:spPr>
          <a:xfrm>
            <a:off x="6858000" y="3886200"/>
            <a:ext cx="256032" cy="256032"/>
          </a:xfrm>
          <a:prstGeom prst="ellipse">
            <a:avLst/>
          </a:prstGeom>
          <a:solidFill>
            <a:srgbClr val="F5C518">
              <a:alpha val="60000"/>
            </a:srgbClr>
          </a:solidFill>
          <a:ln cap="flat" cmpd="sng" w="12700">
            <a:solidFill>
              <a:srgbClr val="F5C5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3"/>
          <p:cNvSpPr/>
          <p:nvPr/>
        </p:nvSpPr>
        <p:spPr>
          <a:xfrm>
            <a:off x="7772400" y="3886200"/>
            <a:ext cx="256032" cy="256032"/>
          </a:xfrm>
          <a:prstGeom prst="ellipse">
            <a:avLst/>
          </a:prstGeom>
          <a:solidFill>
            <a:srgbClr val="F5C518">
              <a:alpha val="60000"/>
            </a:srgbClr>
          </a:solidFill>
          <a:ln cap="flat" cmpd="sng" w="12700">
            <a:solidFill>
              <a:srgbClr val="F5C5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3"/>
          <p:cNvSpPr/>
          <p:nvPr/>
        </p:nvSpPr>
        <p:spPr>
          <a:xfrm>
            <a:off x="1371600" y="425196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898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898B8"/>
                </a:solidFill>
                <a:latin typeface="Calibri"/>
                <a:ea typeface="Calibri"/>
                <a:cs typeface="Calibri"/>
                <a:sym typeface="Calibri"/>
              </a:rPr>
              <a:t>Designed for high versatility in competitive terrain challenges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1A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2" name="Google Shape;72;p4"/>
          <p:cNvCxnSpPr/>
          <p:nvPr/>
        </p:nvCxnSpPr>
        <p:spPr>
          <a:xfrm>
            <a:off x="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A2A45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73" name="Google Shape;73;p4"/>
          <p:cNvCxnSpPr/>
          <p:nvPr/>
        </p:nvCxnSpPr>
        <p:spPr>
          <a:xfrm>
            <a:off x="11430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A2A45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74" name="Google Shape;74;p4"/>
          <p:cNvCxnSpPr/>
          <p:nvPr/>
        </p:nvCxnSpPr>
        <p:spPr>
          <a:xfrm>
            <a:off x="22860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A2A45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75" name="Google Shape;75;p4"/>
          <p:cNvCxnSpPr/>
          <p:nvPr/>
        </p:nvCxnSpPr>
        <p:spPr>
          <a:xfrm>
            <a:off x="34290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A2A45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76" name="Google Shape;76;p4"/>
          <p:cNvCxnSpPr/>
          <p:nvPr/>
        </p:nvCxnSpPr>
        <p:spPr>
          <a:xfrm>
            <a:off x="45720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A2A45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77" name="Google Shape;77;p4"/>
          <p:cNvCxnSpPr/>
          <p:nvPr/>
        </p:nvCxnSpPr>
        <p:spPr>
          <a:xfrm>
            <a:off x="57150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A2A45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78" name="Google Shape;78;p4"/>
          <p:cNvCxnSpPr/>
          <p:nvPr/>
        </p:nvCxnSpPr>
        <p:spPr>
          <a:xfrm>
            <a:off x="68580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A2A45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79" name="Google Shape;79;p4"/>
          <p:cNvCxnSpPr/>
          <p:nvPr/>
        </p:nvCxnSpPr>
        <p:spPr>
          <a:xfrm>
            <a:off x="80010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A2A45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80" name="Google Shape;80;p4"/>
          <p:cNvCxnSpPr/>
          <p:nvPr/>
        </p:nvCxnSpPr>
        <p:spPr>
          <a:xfrm>
            <a:off x="91440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A2A45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81" name="Google Shape;81;p4"/>
          <p:cNvCxnSpPr/>
          <p:nvPr/>
        </p:nvCxnSpPr>
        <p:spPr>
          <a:xfrm>
            <a:off x="0" y="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2A2A45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82" name="Google Shape;82;p4"/>
          <p:cNvCxnSpPr/>
          <p:nvPr/>
        </p:nvCxnSpPr>
        <p:spPr>
          <a:xfrm>
            <a:off x="0" y="128016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2A2A45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83" name="Google Shape;83;p4"/>
          <p:cNvCxnSpPr/>
          <p:nvPr/>
        </p:nvCxnSpPr>
        <p:spPr>
          <a:xfrm>
            <a:off x="0" y="256032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2A2A45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84" name="Google Shape;84;p4"/>
          <p:cNvCxnSpPr/>
          <p:nvPr/>
        </p:nvCxnSpPr>
        <p:spPr>
          <a:xfrm>
            <a:off x="0" y="384048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2A2A45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85" name="Google Shape;85;p4"/>
          <p:cNvCxnSpPr/>
          <p:nvPr/>
        </p:nvCxnSpPr>
        <p:spPr>
          <a:xfrm>
            <a:off x="0" y="512064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2A2A45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86" name="Google Shape;86;p4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1C30"/>
          </a:solidFill>
          <a:ln cap="flat" cmpd="sng" w="12700">
            <a:solidFill>
              <a:srgbClr val="1C1C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4"/>
          <p:cNvSpPr/>
          <p:nvPr/>
        </p:nvSpPr>
        <p:spPr>
          <a:xfrm>
            <a:off x="0" y="0"/>
            <a:ext cx="109728" cy="685800"/>
          </a:xfrm>
          <a:prstGeom prst="rect">
            <a:avLst/>
          </a:prstGeom>
          <a:solidFill>
            <a:srgbClr val="F5C518"/>
          </a:solidFill>
          <a:ln cap="flat" cmpd="sng" w="12700">
            <a:solidFill>
              <a:srgbClr val="F5C5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4"/>
          <p:cNvSpPr/>
          <p:nvPr/>
        </p:nvSpPr>
        <p:spPr>
          <a:xfrm>
            <a:off x="228600" y="0"/>
            <a:ext cx="7315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C518"/>
              </a:buClr>
              <a:buSzPts val="2200"/>
              <a:buFont typeface="Arial Black"/>
              <a:buNone/>
            </a:pPr>
            <a:r>
              <a:rPr b="1" i="0" lang="en-US" sz="2200" u="none" cap="none" strike="noStrike">
                <a:solidFill>
                  <a:srgbClr val="F5C518"/>
                </a:solidFill>
                <a:latin typeface="Arial Black"/>
                <a:ea typeface="Arial Black"/>
                <a:cs typeface="Arial Black"/>
                <a:sym typeface="Arial Black"/>
              </a:rPr>
              <a:t>ROBOT IN ACTION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7772400" y="0"/>
            <a:ext cx="12801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898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898B8"/>
                </a:solidFill>
                <a:latin typeface="Calibri"/>
                <a:ea typeface="Calibri"/>
                <a:cs typeface="Calibri"/>
                <a:sym typeface="Calibri"/>
              </a:rPr>
              <a:t>SLIDE 02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320040" y="804672"/>
            <a:ext cx="6492240" cy="4023360"/>
          </a:xfrm>
          <a:prstGeom prst="rect">
            <a:avLst/>
          </a:prstGeom>
          <a:solidFill>
            <a:srgbClr val="1C1C30"/>
          </a:solidFill>
          <a:ln cap="flat" cmpd="sng" w="25400">
            <a:solidFill>
              <a:srgbClr val="F5C518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8100000" dist="5080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1" name="Google Shape;9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804672"/>
            <a:ext cx="6492240" cy="402336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4"/>
          <p:cNvSpPr/>
          <p:nvPr/>
        </p:nvSpPr>
        <p:spPr>
          <a:xfrm>
            <a:off x="310896" y="795528"/>
            <a:ext cx="201168" cy="54864"/>
          </a:xfrm>
          <a:prstGeom prst="rect">
            <a:avLst/>
          </a:prstGeom>
          <a:solidFill>
            <a:srgbClr val="E87722"/>
          </a:solidFill>
          <a:ln cap="flat" cmpd="sng" w="12700">
            <a:solidFill>
              <a:srgbClr val="E877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4"/>
          <p:cNvSpPr/>
          <p:nvPr/>
        </p:nvSpPr>
        <p:spPr>
          <a:xfrm>
            <a:off x="310896" y="795528"/>
            <a:ext cx="54864" cy="201168"/>
          </a:xfrm>
          <a:prstGeom prst="rect">
            <a:avLst/>
          </a:prstGeom>
          <a:solidFill>
            <a:srgbClr val="E87722"/>
          </a:solidFill>
          <a:ln cap="flat" cmpd="sng" w="12700">
            <a:solidFill>
              <a:srgbClr val="E877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4"/>
          <p:cNvSpPr/>
          <p:nvPr/>
        </p:nvSpPr>
        <p:spPr>
          <a:xfrm>
            <a:off x="6483096" y="795528"/>
            <a:ext cx="201168" cy="54864"/>
          </a:xfrm>
          <a:prstGeom prst="rect">
            <a:avLst/>
          </a:prstGeom>
          <a:solidFill>
            <a:srgbClr val="E87722"/>
          </a:solidFill>
          <a:ln cap="flat" cmpd="sng" w="12700">
            <a:solidFill>
              <a:srgbClr val="E877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4"/>
          <p:cNvSpPr/>
          <p:nvPr/>
        </p:nvSpPr>
        <p:spPr>
          <a:xfrm>
            <a:off x="6483096" y="795528"/>
            <a:ext cx="54864" cy="201168"/>
          </a:xfrm>
          <a:prstGeom prst="rect">
            <a:avLst/>
          </a:prstGeom>
          <a:solidFill>
            <a:srgbClr val="E87722"/>
          </a:solidFill>
          <a:ln cap="flat" cmpd="sng" w="12700">
            <a:solidFill>
              <a:srgbClr val="E877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4"/>
          <p:cNvSpPr/>
          <p:nvPr/>
        </p:nvSpPr>
        <p:spPr>
          <a:xfrm>
            <a:off x="310896" y="4498848"/>
            <a:ext cx="201168" cy="54864"/>
          </a:xfrm>
          <a:prstGeom prst="rect">
            <a:avLst/>
          </a:prstGeom>
          <a:solidFill>
            <a:srgbClr val="E87722"/>
          </a:solidFill>
          <a:ln cap="flat" cmpd="sng" w="12700">
            <a:solidFill>
              <a:srgbClr val="E877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"/>
          <p:cNvSpPr/>
          <p:nvPr/>
        </p:nvSpPr>
        <p:spPr>
          <a:xfrm>
            <a:off x="310896" y="4498848"/>
            <a:ext cx="54864" cy="201168"/>
          </a:xfrm>
          <a:prstGeom prst="rect">
            <a:avLst/>
          </a:prstGeom>
          <a:solidFill>
            <a:srgbClr val="E87722"/>
          </a:solidFill>
          <a:ln cap="flat" cmpd="sng" w="12700">
            <a:solidFill>
              <a:srgbClr val="E877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4"/>
          <p:cNvSpPr/>
          <p:nvPr/>
        </p:nvSpPr>
        <p:spPr>
          <a:xfrm>
            <a:off x="6483096" y="4498848"/>
            <a:ext cx="201168" cy="54864"/>
          </a:xfrm>
          <a:prstGeom prst="rect">
            <a:avLst/>
          </a:prstGeom>
          <a:solidFill>
            <a:srgbClr val="E87722"/>
          </a:solidFill>
          <a:ln cap="flat" cmpd="sng" w="12700">
            <a:solidFill>
              <a:srgbClr val="E877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4"/>
          <p:cNvSpPr/>
          <p:nvPr/>
        </p:nvSpPr>
        <p:spPr>
          <a:xfrm>
            <a:off x="6483096" y="4498848"/>
            <a:ext cx="54864" cy="201168"/>
          </a:xfrm>
          <a:prstGeom prst="rect">
            <a:avLst/>
          </a:prstGeom>
          <a:solidFill>
            <a:srgbClr val="E87722"/>
          </a:solidFill>
          <a:ln cap="flat" cmpd="sng" w="12700">
            <a:solidFill>
              <a:srgbClr val="E877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"/>
          <p:cNvSpPr/>
          <p:nvPr/>
        </p:nvSpPr>
        <p:spPr>
          <a:xfrm>
            <a:off x="6995160" y="804672"/>
            <a:ext cx="1828800" cy="1188720"/>
          </a:xfrm>
          <a:prstGeom prst="rect">
            <a:avLst/>
          </a:prstGeom>
          <a:solidFill>
            <a:srgbClr val="1C1C30"/>
          </a:solidFill>
          <a:ln cap="flat" cmpd="sng" w="25400">
            <a:solidFill>
              <a:srgbClr val="F5C51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4"/>
          <p:cNvSpPr/>
          <p:nvPr/>
        </p:nvSpPr>
        <p:spPr>
          <a:xfrm>
            <a:off x="6995160" y="804672"/>
            <a:ext cx="64008" cy="1188720"/>
          </a:xfrm>
          <a:prstGeom prst="rect">
            <a:avLst/>
          </a:prstGeom>
          <a:solidFill>
            <a:srgbClr val="F5C518"/>
          </a:solidFill>
          <a:ln cap="flat" cmpd="sng" w="12700">
            <a:solidFill>
              <a:srgbClr val="F5C5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4"/>
          <p:cNvSpPr/>
          <p:nvPr/>
        </p:nvSpPr>
        <p:spPr>
          <a:xfrm>
            <a:off x="7223760" y="896112"/>
            <a:ext cx="1463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C51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5C518"/>
                </a:solidFill>
                <a:latin typeface="Calibri"/>
                <a:ea typeface="Calibri"/>
                <a:cs typeface="Calibri"/>
                <a:sym typeface="Calibri"/>
              </a:rPr>
              <a:t>LIVE DEMO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7223760" y="1261872"/>
            <a:ext cx="1463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898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898B8"/>
                </a:solidFill>
                <a:latin typeface="Calibri"/>
                <a:ea typeface="Calibri"/>
                <a:cs typeface="Calibri"/>
                <a:sym typeface="Calibri"/>
              </a:rPr>
              <a:t>Multi-axis movement showcased on the field.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6995160" y="2148840"/>
            <a:ext cx="1828800" cy="1188720"/>
          </a:xfrm>
          <a:prstGeom prst="rect">
            <a:avLst/>
          </a:prstGeom>
          <a:solidFill>
            <a:srgbClr val="1C1C30"/>
          </a:solidFill>
          <a:ln cap="flat" cmpd="sng" w="25400">
            <a:solidFill>
              <a:srgbClr val="E87722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4"/>
          <p:cNvSpPr/>
          <p:nvPr/>
        </p:nvSpPr>
        <p:spPr>
          <a:xfrm>
            <a:off x="6995160" y="2148840"/>
            <a:ext cx="64008" cy="1188720"/>
          </a:xfrm>
          <a:prstGeom prst="rect">
            <a:avLst/>
          </a:prstGeom>
          <a:solidFill>
            <a:srgbClr val="E87722"/>
          </a:solidFill>
          <a:ln cap="flat" cmpd="sng" w="12700">
            <a:solidFill>
              <a:srgbClr val="E877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4"/>
          <p:cNvSpPr/>
          <p:nvPr/>
        </p:nvSpPr>
        <p:spPr>
          <a:xfrm>
            <a:off x="7223760" y="2240280"/>
            <a:ext cx="1463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772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87722"/>
                </a:solidFill>
                <a:latin typeface="Calibri"/>
                <a:ea typeface="Calibri"/>
                <a:cs typeface="Calibri"/>
                <a:sym typeface="Calibri"/>
              </a:rPr>
              <a:t>GEAR SHIFT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7223760" y="2606040"/>
            <a:ext cx="1463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898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898B8"/>
                </a:solidFill>
                <a:latin typeface="Calibri"/>
                <a:ea typeface="Calibri"/>
                <a:cs typeface="Calibri"/>
                <a:sym typeface="Calibri"/>
              </a:rPr>
              <a:t>Watch torque change as gears engage at different stages.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6995160" y="3493008"/>
            <a:ext cx="1828800" cy="1335024"/>
          </a:xfrm>
          <a:prstGeom prst="rect">
            <a:avLst/>
          </a:prstGeom>
          <a:solidFill>
            <a:srgbClr val="1C1C30"/>
          </a:solidFill>
          <a:ln cap="flat" cmpd="sng" w="254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4"/>
          <p:cNvSpPr/>
          <p:nvPr/>
        </p:nvSpPr>
        <p:spPr>
          <a:xfrm>
            <a:off x="6995160" y="3493008"/>
            <a:ext cx="64008" cy="1335024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4"/>
          <p:cNvSpPr/>
          <p:nvPr/>
        </p:nvSpPr>
        <p:spPr>
          <a:xfrm>
            <a:off x="7223760" y="3584448"/>
            <a:ext cx="1463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400"/>
              <a:buFont typeface="Arial Black"/>
              <a:buNone/>
            </a:pPr>
            <a:r>
              <a:rPr b="1" i="0" lang="en-US" sz="1400" u="none" cap="none" strike="noStrike">
                <a:solidFill>
                  <a:srgbClr val="00B4D8"/>
                </a:solidFill>
                <a:latin typeface="Arial Black"/>
                <a:ea typeface="Arial Black"/>
                <a:cs typeface="Arial Black"/>
                <a:sym typeface="Arial Black"/>
              </a:rPr>
              <a:t>X · Y · Z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7223760" y="3950208"/>
            <a:ext cx="14630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898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898B8"/>
                </a:solidFill>
                <a:latin typeface="Calibri"/>
                <a:ea typeface="Calibri"/>
                <a:cs typeface="Calibri"/>
                <a:sym typeface="Calibri"/>
              </a:rPr>
              <a:t>Gears rotate on all 3 axes simultaneously.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F5C518"/>
          </a:solidFill>
          <a:ln cap="flat" cmpd="sng" w="12700">
            <a:solidFill>
              <a:srgbClr val="F5C5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1A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8" name="Google Shape;118;p5"/>
          <p:cNvCxnSpPr/>
          <p:nvPr/>
        </p:nvCxnSpPr>
        <p:spPr>
          <a:xfrm>
            <a:off x="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A2A45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19" name="Google Shape;119;p5"/>
          <p:cNvCxnSpPr/>
          <p:nvPr/>
        </p:nvCxnSpPr>
        <p:spPr>
          <a:xfrm>
            <a:off x="11430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A2A45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20" name="Google Shape;120;p5"/>
          <p:cNvCxnSpPr/>
          <p:nvPr/>
        </p:nvCxnSpPr>
        <p:spPr>
          <a:xfrm>
            <a:off x="22860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A2A45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21" name="Google Shape;121;p5"/>
          <p:cNvCxnSpPr/>
          <p:nvPr/>
        </p:nvCxnSpPr>
        <p:spPr>
          <a:xfrm>
            <a:off x="34290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A2A45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22" name="Google Shape;122;p5"/>
          <p:cNvCxnSpPr/>
          <p:nvPr/>
        </p:nvCxnSpPr>
        <p:spPr>
          <a:xfrm>
            <a:off x="45720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A2A45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23" name="Google Shape;123;p5"/>
          <p:cNvCxnSpPr/>
          <p:nvPr/>
        </p:nvCxnSpPr>
        <p:spPr>
          <a:xfrm>
            <a:off x="57150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A2A45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24" name="Google Shape;124;p5"/>
          <p:cNvCxnSpPr/>
          <p:nvPr/>
        </p:nvCxnSpPr>
        <p:spPr>
          <a:xfrm>
            <a:off x="68580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A2A45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25" name="Google Shape;125;p5"/>
          <p:cNvCxnSpPr/>
          <p:nvPr/>
        </p:nvCxnSpPr>
        <p:spPr>
          <a:xfrm>
            <a:off x="80010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A2A45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26" name="Google Shape;126;p5"/>
          <p:cNvCxnSpPr/>
          <p:nvPr/>
        </p:nvCxnSpPr>
        <p:spPr>
          <a:xfrm>
            <a:off x="91440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A2A45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27" name="Google Shape;127;p5"/>
          <p:cNvCxnSpPr/>
          <p:nvPr/>
        </p:nvCxnSpPr>
        <p:spPr>
          <a:xfrm>
            <a:off x="0" y="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2A2A45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28" name="Google Shape;128;p5"/>
          <p:cNvCxnSpPr/>
          <p:nvPr/>
        </p:nvCxnSpPr>
        <p:spPr>
          <a:xfrm>
            <a:off x="0" y="128016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2A2A45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29" name="Google Shape;129;p5"/>
          <p:cNvCxnSpPr/>
          <p:nvPr/>
        </p:nvCxnSpPr>
        <p:spPr>
          <a:xfrm>
            <a:off x="0" y="256032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2A2A45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30" name="Google Shape;130;p5"/>
          <p:cNvCxnSpPr/>
          <p:nvPr/>
        </p:nvCxnSpPr>
        <p:spPr>
          <a:xfrm>
            <a:off x="0" y="384048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2A2A45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31" name="Google Shape;131;p5"/>
          <p:cNvCxnSpPr/>
          <p:nvPr/>
        </p:nvCxnSpPr>
        <p:spPr>
          <a:xfrm>
            <a:off x="0" y="512064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2A2A45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32" name="Google Shape;132;p5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1C30"/>
          </a:solidFill>
          <a:ln cap="flat" cmpd="sng" w="12700">
            <a:solidFill>
              <a:srgbClr val="1C1C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5"/>
          <p:cNvSpPr/>
          <p:nvPr/>
        </p:nvSpPr>
        <p:spPr>
          <a:xfrm>
            <a:off x="0" y="0"/>
            <a:ext cx="109728" cy="685800"/>
          </a:xfrm>
          <a:prstGeom prst="rect">
            <a:avLst/>
          </a:prstGeom>
          <a:solidFill>
            <a:srgbClr val="F5C518"/>
          </a:solidFill>
          <a:ln cap="flat" cmpd="sng" w="12700">
            <a:solidFill>
              <a:srgbClr val="F5C5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5"/>
          <p:cNvSpPr/>
          <p:nvPr/>
        </p:nvSpPr>
        <p:spPr>
          <a:xfrm>
            <a:off x="228600" y="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C518"/>
              </a:buClr>
              <a:buSzPts val="2200"/>
              <a:buFont typeface="Arial Black"/>
              <a:buNone/>
            </a:pPr>
            <a:r>
              <a:rPr b="1" i="0" lang="en-US" sz="2200" u="none" cap="none" strike="noStrike">
                <a:solidFill>
                  <a:srgbClr val="F5C518"/>
                </a:solidFill>
                <a:latin typeface="Arial Black"/>
                <a:ea typeface="Arial Black"/>
                <a:cs typeface="Arial Black"/>
                <a:sym typeface="Arial Black"/>
              </a:rPr>
              <a:t>ROBOT OVERVIEW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5"/>
          <p:cNvSpPr/>
          <p:nvPr/>
        </p:nvSpPr>
        <p:spPr>
          <a:xfrm>
            <a:off x="7772400" y="0"/>
            <a:ext cx="12801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898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898B8"/>
                </a:solidFill>
                <a:latin typeface="Calibri"/>
                <a:ea typeface="Calibri"/>
                <a:cs typeface="Calibri"/>
                <a:sym typeface="Calibri"/>
              </a:rPr>
              <a:t>SLIDE 03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365760" y="868680"/>
            <a:ext cx="5029200" cy="3931920"/>
          </a:xfrm>
          <a:prstGeom prst="rect">
            <a:avLst/>
          </a:prstGeom>
          <a:solidFill>
            <a:srgbClr val="1C1C30"/>
          </a:solidFill>
          <a:ln cap="flat" cmpd="sng" w="25400">
            <a:solidFill>
              <a:srgbClr val="F5C51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5"/>
          <p:cNvSpPr/>
          <p:nvPr/>
        </p:nvSpPr>
        <p:spPr>
          <a:xfrm>
            <a:off x="365760" y="868680"/>
            <a:ext cx="64008" cy="3931920"/>
          </a:xfrm>
          <a:prstGeom prst="rect">
            <a:avLst/>
          </a:prstGeom>
          <a:solidFill>
            <a:srgbClr val="F5C518"/>
          </a:solidFill>
          <a:ln cap="flat" cmpd="sng" w="12700">
            <a:solidFill>
              <a:srgbClr val="F5C5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5"/>
          <p:cNvSpPr/>
          <p:nvPr/>
        </p:nvSpPr>
        <p:spPr>
          <a:xfrm>
            <a:off x="594360" y="960120"/>
            <a:ext cx="4572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C51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5C518"/>
                </a:solidFill>
                <a:latin typeface="Calibri"/>
                <a:ea typeface="Calibri"/>
                <a:cs typeface="Calibri"/>
                <a:sym typeface="Calibri"/>
              </a:rPr>
              <a:t>DESIGN PHILOSOPHY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594360" y="1417320"/>
            <a:ext cx="452628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4F4F4"/>
                </a:solidFill>
                <a:latin typeface="Calibri"/>
                <a:ea typeface="Calibri"/>
                <a:cs typeface="Calibri"/>
                <a:sym typeface="Calibri"/>
              </a:rPr>
              <a:t>Our robot is engineered for maximum adaptability on the FLL 2026 Unearthed challenge field. The core philosophy is: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Calibri"/>
              <a:buNone/>
            </a:pPr>
            <a:r>
              <a:rPr b="0" i="0" lang="en-US" sz="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772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87722"/>
                </a:solidFill>
                <a:latin typeface="Calibri"/>
                <a:ea typeface="Calibri"/>
                <a:cs typeface="Calibri"/>
                <a:sym typeface="Calibri"/>
              </a:rPr>
              <a:t>Simultaneous Multi-Axis Movement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898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898B8"/>
                </a:solidFill>
                <a:latin typeface="Calibri"/>
                <a:ea typeface="Calibri"/>
                <a:cs typeface="Calibri"/>
                <a:sym typeface="Calibri"/>
              </a:rPr>
              <a:t>Move in multiple directions at the same time, unlike traditional sequential movement robots.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Calibri"/>
              <a:buNone/>
            </a:pPr>
            <a:r>
              <a:rPr b="0" i="0" lang="en-US" sz="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772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87722"/>
                </a:solidFill>
                <a:latin typeface="Calibri"/>
                <a:ea typeface="Calibri"/>
                <a:cs typeface="Calibri"/>
                <a:sym typeface="Calibri"/>
              </a:rPr>
              <a:t>Gear-Driven Torque Management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898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898B8"/>
                </a:solidFill>
                <a:latin typeface="Calibri"/>
                <a:ea typeface="Calibri"/>
                <a:cs typeface="Calibri"/>
                <a:sym typeface="Calibri"/>
              </a:rPr>
              <a:t>Use gear ratios strategically to balance speed vs. force depending on mission requirements.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Calibri"/>
              <a:buNone/>
            </a:pPr>
            <a:r>
              <a:rPr b="0" i="0" lang="en-US" sz="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772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87722"/>
                </a:solidFill>
                <a:latin typeface="Calibri"/>
                <a:ea typeface="Calibri"/>
                <a:cs typeface="Calibri"/>
                <a:sym typeface="Calibri"/>
              </a:rPr>
              <a:t>Modular Motor Layout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898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898B8"/>
                </a:solidFill>
                <a:latin typeface="Calibri"/>
                <a:ea typeface="Calibri"/>
                <a:cs typeface="Calibri"/>
                <a:sym typeface="Calibri"/>
              </a:rPr>
              <a:t>Motors are positioned to allow independent axle control for precise field navigation.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5"/>
          <p:cNvSpPr/>
          <p:nvPr/>
        </p:nvSpPr>
        <p:spPr>
          <a:xfrm>
            <a:off x="5623560" y="868680"/>
            <a:ext cx="3200400" cy="1143000"/>
          </a:xfrm>
          <a:prstGeom prst="rect">
            <a:avLst/>
          </a:prstGeom>
          <a:solidFill>
            <a:srgbClr val="1C1C30"/>
          </a:solidFill>
          <a:ln cap="flat" cmpd="sng" w="25400">
            <a:solidFill>
              <a:srgbClr val="F5C51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5"/>
          <p:cNvSpPr/>
          <p:nvPr/>
        </p:nvSpPr>
        <p:spPr>
          <a:xfrm>
            <a:off x="5623560" y="868680"/>
            <a:ext cx="64008" cy="1143000"/>
          </a:xfrm>
          <a:prstGeom prst="rect">
            <a:avLst/>
          </a:prstGeom>
          <a:solidFill>
            <a:srgbClr val="F5C518"/>
          </a:solidFill>
          <a:ln cap="flat" cmpd="sng" w="12700">
            <a:solidFill>
              <a:srgbClr val="F5C5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5"/>
          <p:cNvSpPr/>
          <p:nvPr/>
        </p:nvSpPr>
        <p:spPr>
          <a:xfrm>
            <a:off x="5687568" y="914400"/>
            <a:ext cx="137160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C518"/>
              </a:buClr>
              <a:buSzPts val="3000"/>
              <a:buFont typeface="Arial Black"/>
              <a:buNone/>
            </a:pPr>
            <a:r>
              <a:rPr b="1" i="0" lang="en-US" sz="3000" u="none" cap="none" strike="noStrike">
                <a:solidFill>
                  <a:srgbClr val="F5C518"/>
                </a:solidFill>
                <a:latin typeface="Arial Black"/>
                <a:ea typeface="Arial Black"/>
                <a:cs typeface="Arial Black"/>
                <a:sym typeface="Arial Black"/>
              </a:rPr>
              <a:t>360°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5"/>
          <p:cNvSpPr/>
          <p:nvPr/>
        </p:nvSpPr>
        <p:spPr>
          <a:xfrm>
            <a:off x="7086600" y="1033272"/>
            <a:ext cx="1554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4F4F4"/>
                </a:solidFill>
                <a:latin typeface="Calibri"/>
                <a:ea typeface="Calibri"/>
                <a:cs typeface="Calibri"/>
                <a:sym typeface="Calibri"/>
              </a:rPr>
              <a:t>MOVEMENT AXES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7086600" y="1399032"/>
            <a:ext cx="1554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898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898B8"/>
                </a:solidFill>
                <a:latin typeface="Calibri"/>
                <a:ea typeface="Calibri"/>
                <a:cs typeface="Calibri"/>
                <a:sym typeface="Calibri"/>
              </a:rPr>
              <a:t>Full omnidirectional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5623560" y="2194560"/>
            <a:ext cx="3200400" cy="1143000"/>
          </a:xfrm>
          <a:prstGeom prst="rect">
            <a:avLst/>
          </a:prstGeom>
          <a:solidFill>
            <a:srgbClr val="1C1C30"/>
          </a:solidFill>
          <a:ln cap="flat" cmpd="sng" w="25400">
            <a:solidFill>
              <a:srgbClr val="E87722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5"/>
          <p:cNvSpPr/>
          <p:nvPr/>
        </p:nvSpPr>
        <p:spPr>
          <a:xfrm>
            <a:off x="5623560" y="2194560"/>
            <a:ext cx="64008" cy="1143000"/>
          </a:xfrm>
          <a:prstGeom prst="rect">
            <a:avLst/>
          </a:prstGeom>
          <a:solidFill>
            <a:srgbClr val="E87722"/>
          </a:solidFill>
          <a:ln cap="flat" cmpd="sng" w="12700">
            <a:solidFill>
              <a:srgbClr val="E877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5"/>
          <p:cNvSpPr/>
          <p:nvPr/>
        </p:nvSpPr>
        <p:spPr>
          <a:xfrm>
            <a:off x="5687568" y="2240280"/>
            <a:ext cx="137160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7722"/>
              </a:buClr>
              <a:buSzPts val="3000"/>
              <a:buFont typeface="Arial Black"/>
              <a:buNone/>
            </a:pPr>
            <a:r>
              <a:rPr b="1" i="0" lang="en-US" sz="3000" u="none" cap="none" strike="noStrike">
                <a:solidFill>
                  <a:srgbClr val="E87722"/>
                </a:solidFill>
                <a:latin typeface="Arial Black"/>
                <a:ea typeface="Arial Black"/>
                <a:cs typeface="Arial Black"/>
                <a:sym typeface="Arial Black"/>
              </a:rPr>
              <a:t>3x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7086600" y="2359152"/>
            <a:ext cx="1554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4F4F4"/>
                </a:solidFill>
                <a:latin typeface="Calibri"/>
                <a:ea typeface="Calibri"/>
                <a:cs typeface="Calibri"/>
                <a:sym typeface="Calibri"/>
              </a:rPr>
              <a:t>GEAR STAGES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5"/>
          <p:cNvSpPr/>
          <p:nvPr/>
        </p:nvSpPr>
        <p:spPr>
          <a:xfrm>
            <a:off x="7086600" y="2724912"/>
            <a:ext cx="1554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898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898B8"/>
                </a:solidFill>
                <a:latin typeface="Calibri"/>
                <a:ea typeface="Calibri"/>
                <a:cs typeface="Calibri"/>
                <a:sym typeface="Calibri"/>
              </a:rPr>
              <a:t>Torque multiplier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5"/>
          <p:cNvSpPr/>
          <p:nvPr/>
        </p:nvSpPr>
        <p:spPr>
          <a:xfrm>
            <a:off x="5623560" y="3520440"/>
            <a:ext cx="3200400" cy="1143000"/>
          </a:xfrm>
          <a:prstGeom prst="rect">
            <a:avLst/>
          </a:prstGeom>
          <a:solidFill>
            <a:srgbClr val="1C1C30"/>
          </a:solidFill>
          <a:ln cap="flat" cmpd="sng" w="254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5"/>
          <p:cNvSpPr/>
          <p:nvPr/>
        </p:nvSpPr>
        <p:spPr>
          <a:xfrm>
            <a:off x="5623560" y="3520440"/>
            <a:ext cx="64008" cy="114300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5"/>
          <p:cNvSpPr/>
          <p:nvPr/>
        </p:nvSpPr>
        <p:spPr>
          <a:xfrm>
            <a:off x="5687568" y="3566160"/>
            <a:ext cx="137160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3000"/>
              <a:buFont typeface="Arial Black"/>
              <a:buNone/>
            </a:pPr>
            <a:r>
              <a:rPr b="1" i="0" lang="en-US" sz="3000" u="none" cap="none" strike="noStrike">
                <a:solidFill>
                  <a:srgbClr val="00B4D8"/>
                </a:solidFill>
                <a:latin typeface="Arial Black"/>
                <a:ea typeface="Arial Black"/>
                <a:cs typeface="Arial Black"/>
                <a:sym typeface="Arial Black"/>
              </a:rPr>
              <a:t>4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5"/>
          <p:cNvSpPr/>
          <p:nvPr/>
        </p:nvSpPr>
        <p:spPr>
          <a:xfrm>
            <a:off x="7086600" y="3685032"/>
            <a:ext cx="1554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4F4F4"/>
                </a:solidFill>
                <a:latin typeface="Calibri"/>
                <a:ea typeface="Calibri"/>
                <a:cs typeface="Calibri"/>
                <a:sym typeface="Calibri"/>
              </a:rPr>
              <a:t>MOTORS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5"/>
          <p:cNvSpPr/>
          <p:nvPr/>
        </p:nvSpPr>
        <p:spPr>
          <a:xfrm>
            <a:off x="7086600" y="4050792"/>
            <a:ext cx="1554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898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898B8"/>
                </a:solidFill>
                <a:latin typeface="Calibri"/>
                <a:ea typeface="Calibri"/>
                <a:cs typeface="Calibri"/>
                <a:sym typeface="Calibri"/>
              </a:rPr>
              <a:t>Independent control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F5C518"/>
          </a:solidFill>
          <a:ln cap="flat" cmpd="sng" w="12700">
            <a:solidFill>
              <a:srgbClr val="F5C5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1A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1" name="Google Shape;161;p6"/>
          <p:cNvCxnSpPr/>
          <p:nvPr/>
        </p:nvCxnSpPr>
        <p:spPr>
          <a:xfrm>
            <a:off x="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A2A45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62" name="Google Shape;162;p6"/>
          <p:cNvCxnSpPr/>
          <p:nvPr/>
        </p:nvCxnSpPr>
        <p:spPr>
          <a:xfrm>
            <a:off x="11430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A2A45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63" name="Google Shape;163;p6"/>
          <p:cNvCxnSpPr/>
          <p:nvPr/>
        </p:nvCxnSpPr>
        <p:spPr>
          <a:xfrm>
            <a:off x="22860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A2A45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64" name="Google Shape;164;p6"/>
          <p:cNvCxnSpPr/>
          <p:nvPr/>
        </p:nvCxnSpPr>
        <p:spPr>
          <a:xfrm>
            <a:off x="34290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A2A45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65" name="Google Shape;165;p6"/>
          <p:cNvCxnSpPr/>
          <p:nvPr/>
        </p:nvCxnSpPr>
        <p:spPr>
          <a:xfrm>
            <a:off x="45720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A2A45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66" name="Google Shape;166;p6"/>
          <p:cNvCxnSpPr/>
          <p:nvPr/>
        </p:nvCxnSpPr>
        <p:spPr>
          <a:xfrm>
            <a:off x="57150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A2A45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67" name="Google Shape;167;p6"/>
          <p:cNvCxnSpPr/>
          <p:nvPr/>
        </p:nvCxnSpPr>
        <p:spPr>
          <a:xfrm>
            <a:off x="68580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A2A45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68" name="Google Shape;168;p6"/>
          <p:cNvCxnSpPr/>
          <p:nvPr/>
        </p:nvCxnSpPr>
        <p:spPr>
          <a:xfrm>
            <a:off x="80010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A2A45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69" name="Google Shape;169;p6"/>
          <p:cNvCxnSpPr/>
          <p:nvPr/>
        </p:nvCxnSpPr>
        <p:spPr>
          <a:xfrm>
            <a:off x="91440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A2A45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70" name="Google Shape;170;p6"/>
          <p:cNvCxnSpPr/>
          <p:nvPr/>
        </p:nvCxnSpPr>
        <p:spPr>
          <a:xfrm>
            <a:off x="0" y="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2A2A45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71" name="Google Shape;171;p6"/>
          <p:cNvCxnSpPr/>
          <p:nvPr/>
        </p:nvCxnSpPr>
        <p:spPr>
          <a:xfrm>
            <a:off x="0" y="128016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2A2A45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72" name="Google Shape;172;p6"/>
          <p:cNvCxnSpPr/>
          <p:nvPr/>
        </p:nvCxnSpPr>
        <p:spPr>
          <a:xfrm>
            <a:off x="0" y="256032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2A2A45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73" name="Google Shape;173;p6"/>
          <p:cNvCxnSpPr/>
          <p:nvPr/>
        </p:nvCxnSpPr>
        <p:spPr>
          <a:xfrm>
            <a:off x="0" y="384048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2A2A45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74" name="Google Shape;174;p6"/>
          <p:cNvCxnSpPr/>
          <p:nvPr/>
        </p:nvCxnSpPr>
        <p:spPr>
          <a:xfrm>
            <a:off x="0" y="512064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2A2A45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75" name="Google Shape;175;p6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1C30"/>
          </a:solidFill>
          <a:ln cap="flat" cmpd="sng" w="12700">
            <a:solidFill>
              <a:srgbClr val="1C1C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6"/>
          <p:cNvSpPr/>
          <p:nvPr/>
        </p:nvSpPr>
        <p:spPr>
          <a:xfrm>
            <a:off x="0" y="0"/>
            <a:ext cx="109728" cy="68580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6"/>
          <p:cNvSpPr/>
          <p:nvPr/>
        </p:nvSpPr>
        <p:spPr>
          <a:xfrm>
            <a:off x="228600" y="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2200"/>
              <a:buFont typeface="Arial Black"/>
              <a:buNone/>
            </a:pPr>
            <a:r>
              <a:rPr b="1" i="0" lang="en-US" sz="2200" u="none" cap="none" strike="noStrike">
                <a:solidFill>
                  <a:srgbClr val="00B4D8"/>
                </a:solidFill>
                <a:latin typeface="Arial Black"/>
                <a:ea typeface="Arial Black"/>
                <a:cs typeface="Arial Black"/>
                <a:sym typeface="Arial Black"/>
              </a:rPr>
              <a:t>MULTI-DIRECTIONAL MOVEMENT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6"/>
          <p:cNvSpPr/>
          <p:nvPr/>
        </p:nvSpPr>
        <p:spPr>
          <a:xfrm>
            <a:off x="7772400" y="0"/>
            <a:ext cx="12801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898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898B8"/>
                </a:solidFill>
                <a:latin typeface="Calibri"/>
                <a:ea typeface="Calibri"/>
                <a:cs typeface="Calibri"/>
                <a:sym typeface="Calibri"/>
              </a:rPr>
              <a:t>SLIDE 04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6"/>
          <p:cNvSpPr/>
          <p:nvPr/>
        </p:nvSpPr>
        <p:spPr>
          <a:xfrm>
            <a:off x="1828800" y="1463040"/>
            <a:ext cx="2743200" cy="2743200"/>
          </a:xfrm>
          <a:prstGeom prst="ellipse">
            <a:avLst/>
          </a:prstGeom>
          <a:solidFill>
            <a:srgbClr val="1C1C30"/>
          </a:solidFill>
          <a:ln cap="flat" cmpd="sng" w="254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6"/>
          <p:cNvSpPr/>
          <p:nvPr/>
        </p:nvSpPr>
        <p:spPr>
          <a:xfrm>
            <a:off x="2926080" y="2560320"/>
            <a:ext cx="548640" cy="548640"/>
          </a:xfrm>
          <a:prstGeom prst="ellipse">
            <a:avLst/>
          </a:prstGeom>
          <a:solidFill>
            <a:srgbClr val="00B4D8"/>
          </a:solidFill>
          <a:ln cap="flat" cmpd="sng" w="25400">
            <a:solidFill>
              <a:srgbClr val="0D0D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81" name="Google Shape;181;p6"/>
          <p:cNvCxnSpPr/>
          <p:nvPr/>
        </p:nvCxnSpPr>
        <p:spPr>
          <a:xfrm rot="10800000">
            <a:off x="3200400" y="1645920"/>
            <a:ext cx="0" cy="1188720"/>
          </a:xfrm>
          <a:prstGeom prst="straightConnector1">
            <a:avLst/>
          </a:prstGeom>
          <a:noFill/>
          <a:ln cap="flat" cmpd="sng" w="31750">
            <a:solidFill>
              <a:srgbClr val="F5C51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2" name="Google Shape;182;p6"/>
          <p:cNvSpPr/>
          <p:nvPr/>
        </p:nvSpPr>
        <p:spPr>
          <a:xfrm>
            <a:off x="3118104" y="1563624"/>
            <a:ext cx="164592" cy="164592"/>
          </a:xfrm>
          <a:prstGeom prst="ellipse">
            <a:avLst/>
          </a:prstGeom>
          <a:solidFill>
            <a:srgbClr val="F5C518"/>
          </a:solidFill>
          <a:ln cap="flat" cmpd="sng" w="12700">
            <a:solidFill>
              <a:srgbClr val="F5C5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6"/>
          <p:cNvSpPr/>
          <p:nvPr/>
        </p:nvSpPr>
        <p:spPr>
          <a:xfrm>
            <a:off x="2743200" y="82296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C518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5C518"/>
                </a:solidFill>
                <a:latin typeface="Calibri"/>
                <a:ea typeface="Calibri"/>
                <a:cs typeface="Calibri"/>
                <a:sym typeface="Calibri"/>
              </a:rPr>
              <a:t>FORWARD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4" name="Google Shape;184;p6"/>
          <p:cNvCxnSpPr/>
          <p:nvPr/>
        </p:nvCxnSpPr>
        <p:spPr>
          <a:xfrm>
            <a:off x="3200400" y="2834640"/>
            <a:ext cx="0" cy="1188720"/>
          </a:xfrm>
          <a:prstGeom prst="straightConnector1">
            <a:avLst/>
          </a:prstGeom>
          <a:noFill/>
          <a:ln cap="flat" cmpd="sng" w="31750">
            <a:solidFill>
              <a:srgbClr val="F5C51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5" name="Google Shape;185;p6"/>
          <p:cNvSpPr/>
          <p:nvPr/>
        </p:nvSpPr>
        <p:spPr>
          <a:xfrm>
            <a:off x="3118104" y="3941064"/>
            <a:ext cx="164592" cy="164592"/>
          </a:xfrm>
          <a:prstGeom prst="ellipse">
            <a:avLst/>
          </a:prstGeom>
          <a:solidFill>
            <a:srgbClr val="F5C518"/>
          </a:solidFill>
          <a:ln cap="flat" cmpd="sng" w="12700">
            <a:solidFill>
              <a:srgbClr val="F5C5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6"/>
          <p:cNvSpPr/>
          <p:nvPr/>
        </p:nvSpPr>
        <p:spPr>
          <a:xfrm>
            <a:off x="2834640" y="45262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C518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5C518"/>
                </a:solidFill>
                <a:latin typeface="Calibri"/>
                <a:ea typeface="Calibri"/>
                <a:cs typeface="Calibri"/>
                <a:sym typeface="Calibri"/>
              </a:rPr>
              <a:t>BACK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7" name="Google Shape;187;p6"/>
          <p:cNvCxnSpPr/>
          <p:nvPr/>
        </p:nvCxnSpPr>
        <p:spPr>
          <a:xfrm rot="10800000">
            <a:off x="2011680" y="2834640"/>
            <a:ext cx="1188720" cy="0"/>
          </a:xfrm>
          <a:prstGeom prst="straightConnector1">
            <a:avLst/>
          </a:prstGeom>
          <a:noFill/>
          <a:ln cap="flat" cmpd="sng" w="31750">
            <a:solidFill>
              <a:srgbClr val="F5C51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8" name="Google Shape;188;p6"/>
          <p:cNvSpPr/>
          <p:nvPr/>
        </p:nvSpPr>
        <p:spPr>
          <a:xfrm>
            <a:off x="1929384" y="2752344"/>
            <a:ext cx="164592" cy="164592"/>
          </a:xfrm>
          <a:prstGeom prst="ellipse">
            <a:avLst/>
          </a:prstGeom>
          <a:solidFill>
            <a:srgbClr val="F5C518"/>
          </a:solidFill>
          <a:ln cap="flat" cmpd="sng" w="12700">
            <a:solidFill>
              <a:srgbClr val="F5C5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6"/>
          <p:cNvSpPr/>
          <p:nvPr/>
        </p:nvSpPr>
        <p:spPr>
          <a:xfrm>
            <a:off x="960120" y="2670048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C518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5C518"/>
                </a:solidFill>
                <a:latin typeface="Calibri"/>
                <a:ea typeface="Calibri"/>
                <a:cs typeface="Calibri"/>
                <a:sym typeface="Calibri"/>
              </a:rPr>
              <a:t>LEFT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0" name="Google Shape;190;p6"/>
          <p:cNvCxnSpPr/>
          <p:nvPr/>
        </p:nvCxnSpPr>
        <p:spPr>
          <a:xfrm>
            <a:off x="3200400" y="2834640"/>
            <a:ext cx="1188720" cy="0"/>
          </a:xfrm>
          <a:prstGeom prst="straightConnector1">
            <a:avLst/>
          </a:prstGeom>
          <a:noFill/>
          <a:ln cap="flat" cmpd="sng" w="31750">
            <a:solidFill>
              <a:srgbClr val="F5C51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1" name="Google Shape;191;p6"/>
          <p:cNvSpPr/>
          <p:nvPr/>
        </p:nvSpPr>
        <p:spPr>
          <a:xfrm>
            <a:off x="4306824" y="2752344"/>
            <a:ext cx="164592" cy="164592"/>
          </a:xfrm>
          <a:prstGeom prst="ellipse">
            <a:avLst/>
          </a:prstGeom>
          <a:solidFill>
            <a:srgbClr val="F5C518"/>
          </a:solidFill>
          <a:ln cap="flat" cmpd="sng" w="12700">
            <a:solidFill>
              <a:srgbClr val="F5C5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6"/>
          <p:cNvSpPr/>
          <p:nvPr/>
        </p:nvSpPr>
        <p:spPr>
          <a:xfrm>
            <a:off x="4709160" y="2670048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C518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5C518"/>
                </a:solidFill>
                <a:latin typeface="Calibri"/>
                <a:ea typeface="Calibri"/>
                <a:cs typeface="Calibri"/>
                <a:sym typeface="Calibri"/>
              </a:rPr>
              <a:t>RIGHT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3" name="Google Shape;193;p6"/>
          <p:cNvCxnSpPr/>
          <p:nvPr/>
        </p:nvCxnSpPr>
        <p:spPr>
          <a:xfrm flipH="1" rot="10800000">
            <a:off x="3200400" y="2011680"/>
            <a:ext cx="822960" cy="822960"/>
          </a:xfrm>
          <a:prstGeom prst="straightConnector1">
            <a:avLst/>
          </a:prstGeom>
          <a:noFill/>
          <a:ln cap="flat" cmpd="sng" w="31750">
            <a:solidFill>
              <a:srgbClr val="F5C51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4" name="Google Shape;194;p6"/>
          <p:cNvSpPr/>
          <p:nvPr/>
        </p:nvSpPr>
        <p:spPr>
          <a:xfrm>
            <a:off x="3941064" y="1929384"/>
            <a:ext cx="164592" cy="164592"/>
          </a:xfrm>
          <a:prstGeom prst="ellipse">
            <a:avLst/>
          </a:prstGeom>
          <a:solidFill>
            <a:srgbClr val="F5C518"/>
          </a:solidFill>
          <a:ln cap="flat" cmpd="sng" w="12700">
            <a:solidFill>
              <a:srgbClr val="F5C5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6"/>
          <p:cNvSpPr/>
          <p:nvPr/>
        </p:nvSpPr>
        <p:spPr>
          <a:xfrm>
            <a:off x="4206240" y="141732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C518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5C518"/>
                </a:solidFill>
                <a:latin typeface="Calibri"/>
                <a:ea typeface="Calibri"/>
                <a:cs typeface="Calibri"/>
                <a:sym typeface="Calibri"/>
              </a:rPr>
              <a:t>DIAGONAL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6"/>
          <p:cNvSpPr/>
          <p:nvPr/>
        </p:nvSpPr>
        <p:spPr>
          <a:xfrm>
            <a:off x="2651760" y="2633472"/>
            <a:ext cx="10972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0D1A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0D0D1A"/>
                </a:solidFill>
                <a:latin typeface="Calibri"/>
                <a:ea typeface="Calibri"/>
                <a:cs typeface="Calibri"/>
                <a:sym typeface="Calibri"/>
              </a:rPr>
              <a:t>SIMULTANEOUS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0D1A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0D0D1A"/>
                </a:solidFill>
                <a:latin typeface="Calibri"/>
                <a:ea typeface="Calibri"/>
                <a:cs typeface="Calibri"/>
                <a:sym typeface="Calibri"/>
              </a:rPr>
              <a:t>MOVEMENT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6"/>
          <p:cNvSpPr/>
          <p:nvPr/>
        </p:nvSpPr>
        <p:spPr>
          <a:xfrm>
            <a:off x="5303520" y="822960"/>
            <a:ext cx="3566160" cy="1188720"/>
          </a:xfrm>
          <a:prstGeom prst="rect">
            <a:avLst/>
          </a:prstGeom>
          <a:solidFill>
            <a:srgbClr val="1C1C30"/>
          </a:solidFill>
          <a:ln cap="flat" cmpd="sng" w="254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6"/>
          <p:cNvSpPr/>
          <p:nvPr/>
        </p:nvSpPr>
        <p:spPr>
          <a:xfrm>
            <a:off x="5303520" y="822960"/>
            <a:ext cx="64008" cy="118872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6"/>
          <p:cNvSpPr/>
          <p:nvPr/>
        </p:nvSpPr>
        <p:spPr>
          <a:xfrm>
            <a:off x="5532120" y="914400"/>
            <a:ext cx="3200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Parallel Motor Drive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6"/>
          <p:cNvSpPr/>
          <p:nvPr/>
        </p:nvSpPr>
        <p:spPr>
          <a:xfrm>
            <a:off x="5532120" y="1280160"/>
            <a:ext cx="32004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898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898B8"/>
                </a:solidFill>
                <a:latin typeface="Calibri"/>
                <a:ea typeface="Calibri"/>
                <a:cs typeface="Calibri"/>
                <a:sym typeface="Calibri"/>
              </a:rPr>
              <a:t>Both left and right drive motors can run at independent speeds, allowing arced and spin-turn movements without stopping.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6"/>
          <p:cNvSpPr/>
          <p:nvPr/>
        </p:nvSpPr>
        <p:spPr>
          <a:xfrm>
            <a:off x="5303520" y="2194560"/>
            <a:ext cx="3566160" cy="1188720"/>
          </a:xfrm>
          <a:prstGeom prst="rect">
            <a:avLst/>
          </a:prstGeom>
          <a:solidFill>
            <a:srgbClr val="1C1C30"/>
          </a:solidFill>
          <a:ln cap="flat" cmpd="sng" w="25400">
            <a:solidFill>
              <a:srgbClr val="F5C51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6"/>
          <p:cNvSpPr/>
          <p:nvPr/>
        </p:nvSpPr>
        <p:spPr>
          <a:xfrm>
            <a:off x="5303520" y="2194560"/>
            <a:ext cx="64008" cy="1188720"/>
          </a:xfrm>
          <a:prstGeom prst="rect">
            <a:avLst/>
          </a:prstGeom>
          <a:solidFill>
            <a:srgbClr val="F5C518"/>
          </a:solidFill>
          <a:ln cap="flat" cmpd="sng" w="12700">
            <a:solidFill>
              <a:srgbClr val="F5C5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6"/>
          <p:cNvSpPr/>
          <p:nvPr/>
        </p:nvSpPr>
        <p:spPr>
          <a:xfrm>
            <a:off x="5532120" y="2286000"/>
            <a:ext cx="3200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C51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5C518"/>
                </a:solidFill>
                <a:latin typeface="Calibri"/>
                <a:ea typeface="Calibri"/>
                <a:cs typeface="Calibri"/>
                <a:sym typeface="Calibri"/>
              </a:rPr>
              <a:t>Simultaneous Arm + Drive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6"/>
          <p:cNvSpPr/>
          <p:nvPr/>
        </p:nvSpPr>
        <p:spPr>
          <a:xfrm>
            <a:off x="5532120" y="2651760"/>
            <a:ext cx="32004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898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898B8"/>
                </a:solidFill>
                <a:latin typeface="Calibri"/>
                <a:ea typeface="Calibri"/>
                <a:cs typeface="Calibri"/>
                <a:sym typeface="Calibri"/>
              </a:rPr>
              <a:t>The robot can activate its arm/attachment mechanism while moving — no need to stop, deploy, then drive away.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6"/>
          <p:cNvSpPr/>
          <p:nvPr/>
        </p:nvSpPr>
        <p:spPr>
          <a:xfrm>
            <a:off x="5303520" y="3566160"/>
            <a:ext cx="3566160" cy="1188720"/>
          </a:xfrm>
          <a:prstGeom prst="rect">
            <a:avLst/>
          </a:prstGeom>
          <a:solidFill>
            <a:srgbClr val="1C1C30"/>
          </a:solidFill>
          <a:ln cap="flat" cmpd="sng" w="25400">
            <a:solidFill>
              <a:srgbClr val="E87722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6"/>
          <p:cNvSpPr/>
          <p:nvPr/>
        </p:nvSpPr>
        <p:spPr>
          <a:xfrm>
            <a:off x="5303520" y="3566160"/>
            <a:ext cx="64008" cy="1188720"/>
          </a:xfrm>
          <a:prstGeom prst="rect">
            <a:avLst/>
          </a:prstGeom>
          <a:solidFill>
            <a:srgbClr val="E87722"/>
          </a:solidFill>
          <a:ln cap="flat" cmpd="sng" w="12700">
            <a:solidFill>
              <a:srgbClr val="E877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6"/>
          <p:cNvSpPr/>
          <p:nvPr/>
        </p:nvSpPr>
        <p:spPr>
          <a:xfrm>
            <a:off x="5532120" y="3657600"/>
            <a:ext cx="3200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772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87722"/>
                </a:solidFill>
                <a:latin typeface="Calibri"/>
                <a:ea typeface="Calibri"/>
                <a:cs typeface="Calibri"/>
                <a:sym typeface="Calibri"/>
              </a:rPr>
              <a:t>Precise Cornering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6"/>
          <p:cNvSpPr/>
          <p:nvPr/>
        </p:nvSpPr>
        <p:spPr>
          <a:xfrm>
            <a:off x="5532120" y="4023360"/>
            <a:ext cx="32004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898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898B8"/>
                </a:solidFill>
                <a:latin typeface="Calibri"/>
                <a:ea typeface="Calibri"/>
                <a:cs typeface="Calibri"/>
                <a:sym typeface="Calibri"/>
              </a:rPr>
              <a:t>By controlling relative wheel speed, we achieve precise angular adjustments mid-mission for tighter paths.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6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1A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5" name="Google Shape;215;p7"/>
          <p:cNvCxnSpPr/>
          <p:nvPr/>
        </p:nvCxnSpPr>
        <p:spPr>
          <a:xfrm>
            <a:off x="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A2A45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16" name="Google Shape;216;p7"/>
          <p:cNvCxnSpPr/>
          <p:nvPr/>
        </p:nvCxnSpPr>
        <p:spPr>
          <a:xfrm>
            <a:off x="11430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A2A45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17" name="Google Shape;217;p7"/>
          <p:cNvCxnSpPr/>
          <p:nvPr/>
        </p:nvCxnSpPr>
        <p:spPr>
          <a:xfrm>
            <a:off x="22860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A2A45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18" name="Google Shape;218;p7"/>
          <p:cNvCxnSpPr/>
          <p:nvPr/>
        </p:nvCxnSpPr>
        <p:spPr>
          <a:xfrm>
            <a:off x="34290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A2A45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19" name="Google Shape;219;p7"/>
          <p:cNvCxnSpPr/>
          <p:nvPr/>
        </p:nvCxnSpPr>
        <p:spPr>
          <a:xfrm>
            <a:off x="45720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A2A45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20" name="Google Shape;220;p7"/>
          <p:cNvCxnSpPr/>
          <p:nvPr/>
        </p:nvCxnSpPr>
        <p:spPr>
          <a:xfrm>
            <a:off x="57150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A2A45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21" name="Google Shape;221;p7"/>
          <p:cNvCxnSpPr/>
          <p:nvPr/>
        </p:nvCxnSpPr>
        <p:spPr>
          <a:xfrm>
            <a:off x="68580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A2A45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22" name="Google Shape;222;p7"/>
          <p:cNvCxnSpPr/>
          <p:nvPr/>
        </p:nvCxnSpPr>
        <p:spPr>
          <a:xfrm>
            <a:off x="80010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A2A45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23" name="Google Shape;223;p7"/>
          <p:cNvCxnSpPr/>
          <p:nvPr/>
        </p:nvCxnSpPr>
        <p:spPr>
          <a:xfrm>
            <a:off x="91440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A2A45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24" name="Google Shape;224;p7"/>
          <p:cNvCxnSpPr/>
          <p:nvPr/>
        </p:nvCxnSpPr>
        <p:spPr>
          <a:xfrm>
            <a:off x="0" y="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2A2A45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25" name="Google Shape;225;p7"/>
          <p:cNvCxnSpPr/>
          <p:nvPr/>
        </p:nvCxnSpPr>
        <p:spPr>
          <a:xfrm>
            <a:off x="0" y="128016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2A2A45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26" name="Google Shape;226;p7"/>
          <p:cNvCxnSpPr/>
          <p:nvPr/>
        </p:nvCxnSpPr>
        <p:spPr>
          <a:xfrm>
            <a:off x="0" y="256032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2A2A45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27" name="Google Shape;227;p7"/>
          <p:cNvCxnSpPr/>
          <p:nvPr/>
        </p:nvCxnSpPr>
        <p:spPr>
          <a:xfrm>
            <a:off x="0" y="384048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2A2A45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28" name="Google Shape;228;p7"/>
          <p:cNvCxnSpPr/>
          <p:nvPr/>
        </p:nvCxnSpPr>
        <p:spPr>
          <a:xfrm>
            <a:off x="0" y="512064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2A2A45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29" name="Google Shape;229;p7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1C30"/>
          </a:solidFill>
          <a:ln cap="flat" cmpd="sng" w="12700">
            <a:solidFill>
              <a:srgbClr val="1C1C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7"/>
          <p:cNvSpPr/>
          <p:nvPr/>
        </p:nvSpPr>
        <p:spPr>
          <a:xfrm>
            <a:off x="0" y="0"/>
            <a:ext cx="109728" cy="685800"/>
          </a:xfrm>
          <a:prstGeom prst="rect">
            <a:avLst/>
          </a:prstGeom>
          <a:solidFill>
            <a:srgbClr val="E87722"/>
          </a:solidFill>
          <a:ln cap="flat" cmpd="sng" w="12700">
            <a:solidFill>
              <a:srgbClr val="E877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7"/>
          <p:cNvSpPr/>
          <p:nvPr/>
        </p:nvSpPr>
        <p:spPr>
          <a:xfrm>
            <a:off x="228600" y="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7722"/>
              </a:buClr>
              <a:buSzPts val="2200"/>
              <a:buFont typeface="Arial Black"/>
              <a:buNone/>
            </a:pPr>
            <a:r>
              <a:rPr b="1" i="0" lang="en-US" sz="2200" u="none" cap="none" strike="noStrike">
                <a:solidFill>
                  <a:srgbClr val="E87722"/>
                </a:solidFill>
                <a:latin typeface="Arial Black"/>
                <a:ea typeface="Arial Black"/>
                <a:cs typeface="Arial Black"/>
                <a:sym typeface="Arial Black"/>
              </a:rPr>
              <a:t>GEAR RATIO &amp; TORQUE CONTROL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7"/>
          <p:cNvSpPr/>
          <p:nvPr/>
        </p:nvSpPr>
        <p:spPr>
          <a:xfrm>
            <a:off x="7772400" y="0"/>
            <a:ext cx="12801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898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898B8"/>
                </a:solidFill>
                <a:latin typeface="Calibri"/>
                <a:ea typeface="Calibri"/>
                <a:cs typeface="Calibri"/>
                <a:sym typeface="Calibri"/>
              </a:rPr>
              <a:t>SLIDE 05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7"/>
          <p:cNvSpPr/>
          <p:nvPr/>
        </p:nvSpPr>
        <p:spPr>
          <a:xfrm>
            <a:off x="731520" y="2194560"/>
            <a:ext cx="1280160" cy="1280160"/>
          </a:xfrm>
          <a:prstGeom prst="ellipse">
            <a:avLst/>
          </a:prstGeom>
          <a:solidFill>
            <a:srgbClr val="F5C518">
              <a:alpha val="80000"/>
            </a:srgbClr>
          </a:solidFill>
          <a:ln cap="flat" cmpd="sng" w="38100">
            <a:solidFill>
              <a:srgbClr val="F5C5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7"/>
          <p:cNvSpPr/>
          <p:nvPr/>
        </p:nvSpPr>
        <p:spPr>
          <a:xfrm>
            <a:off x="1128370" y="2591410"/>
            <a:ext cx="486461" cy="486461"/>
          </a:xfrm>
          <a:prstGeom prst="ellipse">
            <a:avLst/>
          </a:prstGeom>
          <a:solidFill>
            <a:srgbClr val="0D0D1A"/>
          </a:solidFill>
          <a:ln cap="flat" cmpd="sng" w="25400">
            <a:solidFill>
              <a:srgbClr val="F5C5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7"/>
          <p:cNvSpPr/>
          <p:nvPr/>
        </p:nvSpPr>
        <p:spPr>
          <a:xfrm>
            <a:off x="1307592" y="2770632"/>
            <a:ext cx="128016" cy="128016"/>
          </a:xfrm>
          <a:prstGeom prst="ellipse">
            <a:avLst/>
          </a:prstGeom>
          <a:solidFill>
            <a:srgbClr val="F5C518"/>
          </a:solidFill>
          <a:ln cap="flat" cmpd="sng" w="12700">
            <a:solidFill>
              <a:srgbClr val="F5C5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7"/>
          <p:cNvSpPr/>
          <p:nvPr/>
        </p:nvSpPr>
        <p:spPr>
          <a:xfrm>
            <a:off x="1179576" y="2697480"/>
            <a:ext cx="38404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C51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5C518"/>
                </a:solidFill>
                <a:latin typeface="Calibri"/>
                <a:ea typeface="Calibri"/>
                <a:cs typeface="Calibri"/>
                <a:sym typeface="Calibri"/>
              </a:rPr>
              <a:t>16T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7"/>
          <p:cNvSpPr/>
          <p:nvPr/>
        </p:nvSpPr>
        <p:spPr>
          <a:xfrm>
            <a:off x="731520" y="1600200"/>
            <a:ext cx="1280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C51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5C518"/>
                </a:solidFill>
                <a:latin typeface="Calibri"/>
                <a:ea typeface="Calibri"/>
                <a:cs typeface="Calibri"/>
                <a:sym typeface="Calibri"/>
              </a:rPr>
              <a:t>SMALL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C51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5C518"/>
                </a:solidFill>
                <a:latin typeface="Calibri"/>
                <a:ea typeface="Calibri"/>
                <a:cs typeface="Calibri"/>
                <a:sym typeface="Calibri"/>
              </a:rPr>
              <a:t>GEAR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7"/>
          <p:cNvSpPr/>
          <p:nvPr/>
        </p:nvSpPr>
        <p:spPr>
          <a:xfrm>
            <a:off x="685800" y="356616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898B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898B8"/>
                </a:solidFill>
                <a:latin typeface="Calibri"/>
                <a:ea typeface="Calibri"/>
                <a:cs typeface="Calibri"/>
                <a:sym typeface="Calibri"/>
              </a:rPr>
              <a:t>High Speed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898B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898B8"/>
                </a:solidFill>
                <a:latin typeface="Calibri"/>
                <a:ea typeface="Calibri"/>
                <a:cs typeface="Calibri"/>
                <a:sym typeface="Calibri"/>
              </a:rPr>
              <a:t>Low Torque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7"/>
          <p:cNvSpPr/>
          <p:nvPr/>
        </p:nvSpPr>
        <p:spPr>
          <a:xfrm>
            <a:off x="2331720" y="2331720"/>
            <a:ext cx="1005840" cy="1005840"/>
          </a:xfrm>
          <a:prstGeom prst="ellipse">
            <a:avLst/>
          </a:prstGeom>
          <a:solidFill>
            <a:srgbClr val="E87722">
              <a:alpha val="80000"/>
            </a:srgbClr>
          </a:solidFill>
          <a:ln cap="flat" cmpd="sng" w="38100">
            <a:solidFill>
              <a:srgbClr val="E877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7"/>
          <p:cNvSpPr/>
          <p:nvPr/>
        </p:nvSpPr>
        <p:spPr>
          <a:xfrm>
            <a:off x="2643530" y="2643530"/>
            <a:ext cx="382219" cy="382219"/>
          </a:xfrm>
          <a:prstGeom prst="ellipse">
            <a:avLst/>
          </a:prstGeom>
          <a:solidFill>
            <a:srgbClr val="0D0D1A"/>
          </a:solidFill>
          <a:ln cap="flat" cmpd="sng" w="25400">
            <a:solidFill>
              <a:srgbClr val="E877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7"/>
          <p:cNvSpPr/>
          <p:nvPr/>
        </p:nvSpPr>
        <p:spPr>
          <a:xfrm>
            <a:off x="2770632" y="2770632"/>
            <a:ext cx="128016" cy="128016"/>
          </a:xfrm>
          <a:prstGeom prst="ellipse">
            <a:avLst/>
          </a:prstGeom>
          <a:solidFill>
            <a:srgbClr val="E87722"/>
          </a:solidFill>
          <a:ln cap="flat" cmpd="sng" w="12700">
            <a:solidFill>
              <a:srgbClr val="E877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7"/>
          <p:cNvSpPr/>
          <p:nvPr/>
        </p:nvSpPr>
        <p:spPr>
          <a:xfrm>
            <a:off x="2683764" y="2697480"/>
            <a:ext cx="3017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7722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E87722"/>
                </a:solidFill>
                <a:latin typeface="Calibri"/>
                <a:ea typeface="Calibri"/>
                <a:cs typeface="Calibri"/>
                <a:sym typeface="Calibri"/>
              </a:rPr>
              <a:t>24T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7"/>
          <p:cNvSpPr/>
          <p:nvPr/>
        </p:nvSpPr>
        <p:spPr>
          <a:xfrm>
            <a:off x="2194560" y="1737360"/>
            <a:ext cx="1280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7722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E87722"/>
                </a:solidFill>
                <a:latin typeface="Calibri"/>
                <a:ea typeface="Calibri"/>
                <a:cs typeface="Calibri"/>
                <a:sym typeface="Calibri"/>
              </a:rPr>
              <a:t>MED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7722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E87722"/>
                </a:solidFill>
                <a:latin typeface="Calibri"/>
                <a:ea typeface="Calibri"/>
                <a:cs typeface="Calibri"/>
                <a:sym typeface="Calibri"/>
              </a:rPr>
              <a:t>GEAR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7"/>
          <p:cNvSpPr/>
          <p:nvPr/>
        </p:nvSpPr>
        <p:spPr>
          <a:xfrm>
            <a:off x="2148840" y="34290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898B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898B8"/>
                </a:solidFill>
                <a:latin typeface="Calibri"/>
                <a:ea typeface="Calibri"/>
                <a:cs typeface="Calibri"/>
                <a:sym typeface="Calibri"/>
              </a:rPr>
              <a:t>Balanced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7"/>
          <p:cNvSpPr/>
          <p:nvPr/>
        </p:nvSpPr>
        <p:spPr>
          <a:xfrm>
            <a:off x="3383280" y="2057400"/>
            <a:ext cx="1554480" cy="1554480"/>
          </a:xfrm>
          <a:prstGeom prst="ellipse">
            <a:avLst/>
          </a:prstGeom>
          <a:solidFill>
            <a:srgbClr val="CC2222">
              <a:alpha val="80000"/>
            </a:srgbClr>
          </a:solidFill>
          <a:ln cap="flat" cmpd="sng" w="38100">
            <a:solidFill>
              <a:srgbClr val="CC22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7"/>
          <p:cNvSpPr/>
          <p:nvPr/>
        </p:nvSpPr>
        <p:spPr>
          <a:xfrm>
            <a:off x="3865169" y="2539289"/>
            <a:ext cx="590702" cy="590702"/>
          </a:xfrm>
          <a:prstGeom prst="ellipse">
            <a:avLst/>
          </a:prstGeom>
          <a:solidFill>
            <a:srgbClr val="0D0D1A"/>
          </a:solidFill>
          <a:ln cap="flat" cmpd="sng" w="25400">
            <a:solidFill>
              <a:srgbClr val="CC22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7"/>
          <p:cNvSpPr/>
          <p:nvPr/>
        </p:nvSpPr>
        <p:spPr>
          <a:xfrm>
            <a:off x="4096512" y="2770632"/>
            <a:ext cx="128016" cy="128016"/>
          </a:xfrm>
          <a:prstGeom prst="ellipse">
            <a:avLst/>
          </a:prstGeom>
          <a:solidFill>
            <a:srgbClr val="CC2222"/>
          </a:solidFill>
          <a:ln cap="flat" cmpd="sng" w="12700">
            <a:solidFill>
              <a:srgbClr val="CC22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7"/>
          <p:cNvSpPr/>
          <p:nvPr/>
        </p:nvSpPr>
        <p:spPr>
          <a:xfrm>
            <a:off x="3927348" y="2697480"/>
            <a:ext cx="46634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C2222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CC2222"/>
                </a:solidFill>
                <a:latin typeface="Calibri"/>
                <a:ea typeface="Calibri"/>
                <a:cs typeface="Calibri"/>
                <a:sym typeface="Calibri"/>
              </a:rPr>
              <a:t>40T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7"/>
          <p:cNvSpPr/>
          <p:nvPr/>
        </p:nvSpPr>
        <p:spPr>
          <a:xfrm>
            <a:off x="3520440" y="1463040"/>
            <a:ext cx="1280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C2222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CC2222"/>
                </a:solidFill>
                <a:latin typeface="Calibri"/>
                <a:ea typeface="Calibri"/>
                <a:cs typeface="Calibri"/>
                <a:sym typeface="Calibri"/>
              </a:rPr>
              <a:t>LARGE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C2222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CC2222"/>
                </a:solidFill>
                <a:latin typeface="Calibri"/>
                <a:ea typeface="Calibri"/>
                <a:cs typeface="Calibri"/>
                <a:sym typeface="Calibri"/>
              </a:rPr>
              <a:t>GEAR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7"/>
          <p:cNvSpPr/>
          <p:nvPr/>
        </p:nvSpPr>
        <p:spPr>
          <a:xfrm>
            <a:off x="3474720" y="370332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898B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898B8"/>
                </a:solidFill>
                <a:latin typeface="Calibri"/>
                <a:ea typeface="Calibri"/>
                <a:cs typeface="Calibri"/>
                <a:sym typeface="Calibri"/>
              </a:rPr>
              <a:t>Low Speed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898B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898B8"/>
                </a:solidFill>
                <a:latin typeface="Calibri"/>
                <a:ea typeface="Calibri"/>
                <a:cs typeface="Calibri"/>
                <a:sym typeface="Calibri"/>
              </a:rPr>
              <a:t>High Torque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7"/>
          <p:cNvSpPr/>
          <p:nvPr/>
        </p:nvSpPr>
        <p:spPr>
          <a:xfrm>
            <a:off x="274320" y="914400"/>
            <a:ext cx="4846320" cy="640080"/>
          </a:xfrm>
          <a:prstGeom prst="rect">
            <a:avLst/>
          </a:prstGeom>
          <a:solidFill>
            <a:srgbClr val="1C1C30"/>
          </a:solidFill>
          <a:ln cap="flat" cmpd="sng" w="25400">
            <a:solidFill>
              <a:srgbClr val="E87722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7"/>
          <p:cNvSpPr/>
          <p:nvPr/>
        </p:nvSpPr>
        <p:spPr>
          <a:xfrm>
            <a:off x="274320" y="914400"/>
            <a:ext cx="64008" cy="640080"/>
          </a:xfrm>
          <a:prstGeom prst="rect">
            <a:avLst/>
          </a:prstGeom>
          <a:solidFill>
            <a:srgbClr val="E87722"/>
          </a:solidFill>
          <a:ln cap="flat" cmpd="sng" w="12700">
            <a:solidFill>
              <a:srgbClr val="E877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7"/>
          <p:cNvSpPr/>
          <p:nvPr/>
        </p:nvSpPr>
        <p:spPr>
          <a:xfrm>
            <a:off x="502920" y="914400"/>
            <a:ext cx="44805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4F4F4"/>
                </a:solidFill>
                <a:latin typeface="Calibri"/>
                <a:ea typeface="Calibri"/>
                <a:cs typeface="Calibri"/>
                <a:sym typeface="Calibri"/>
              </a:rPr>
              <a:t>GEAR RATIO  =  Driver Teeth  ÷  Driven Teeth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4" name="Google Shape;254;p7"/>
          <p:cNvCxnSpPr/>
          <p:nvPr/>
        </p:nvCxnSpPr>
        <p:spPr>
          <a:xfrm>
            <a:off x="2011680" y="2834640"/>
            <a:ext cx="548640" cy="0"/>
          </a:xfrm>
          <a:prstGeom prst="straightConnector1">
            <a:avLst/>
          </a:prstGeom>
          <a:noFill/>
          <a:ln cap="flat" cmpd="sng" w="19050">
            <a:solidFill>
              <a:srgbClr val="9898B8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55" name="Google Shape;255;p7"/>
          <p:cNvCxnSpPr/>
          <p:nvPr/>
        </p:nvCxnSpPr>
        <p:spPr>
          <a:xfrm>
            <a:off x="3337560" y="2834640"/>
            <a:ext cx="502920" cy="0"/>
          </a:xfrm>
          <a:prstGeom prst="straightConnector1">
            <a:avLst/>
          </a:prstGeom>
          <a:noFill/>
          <a:ln cap="flat" cmpd="sng" w="19050">
            <a:solidFill>
              <a:srgbClr val="9898B8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56" name="Google Shape;256;p7"/>
          <p:cNvSpPr/>
          <p:nvPr/>
        </p:nvSpPr>
        <p:spPr>
          <a:xfrm>
            <a:off x="5349240" y="822960"/>
            <a:ext cx="3520440" cy="1188720"/>
          </a:xfrm>
          <a:prstGeom prst="rect">
            <a:avLst/>
          </a:prstGeom>
          <a:solidFill>
            <a:srgbClr val="1C1C30"/>
          </a:solidFill>
          <a:ln cap="flat" cmpd="sng" w="25400">
            <a:solidFill>
              <a:srgbClr val="F5C51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7"/>
          <p:cNvSpPr/>
          <p:nvPr/>
        </p:nvSpPr>
        <p:spPr>
          <a:xfrm>
            <a:off x="5349240" y="822960"/>
            <a:ext cx="64008" cy="1188720"/>
          </a:xfrm>
          <a:prstGeom prst="rect">
            <a:avLst/>
          </a:prstGeom>
          <a:solidFill>
            <a:srgbClr val="F5C518"/>
          </a:solidFill>
          <a:ln cap="flat" cmpd="sng" w="12700">
            <a:solidFill>
              <a:srgbClr val="F5C5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7"/>
          <p:cNvSpPr/>
          <p:nvPr/>
        </p:nvSpPr>
        <p:spPr>
          <a:xfrm>
            <a:off x="5577840" y="914400"/>
            <a:ext cx="3108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C51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5C518"/>
                </a:solidFill>
                <a:latin typeface="Calibri"/>
                <a:ea typeface="Calibri"/>
                <a:cs typeface="Calibri"/>
                <a:sym typeface="Calibri"/>
              </a:rPr>
              <a:t>Speed Mode (1:1 ratio)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7"/>
          <p:cNvSpPr/>
          <p:nvPr/>
        </p:nvSpPr>
        <p:spPr>
          <a:xfrm>
            <a:off x="5577840" y="1280160"/>
            <a:ext cx="31089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898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898B8"/>
                </a:solidFill>
                <a:latin typeface="Calibri"/>
                <a:ea typeface="Calibri"/>
                <a:cs typeface="Calibri"/>
                <a:sym typeface="Calibri"/>
              </a:rPr>
              <a:t>Small gear drives small gear — fast rotation for quick field navigation.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7"/>
          <p:cNvSpPr/>
          <p:nvPr/>
        </p:nvSpPr>
        <p:spPr>
          <a:xfrm>
            <a:off x="5349240" y="2240280"/>
            <a:ext cx="3520440" cy="1188720"/>
          </a:xfrm>
          <a:prstGeom prst="rect">
            <a:avLst/>
          </a:prstGeom>
          <a:solidFill>
            <a:srgbClr val="1C1C30"/>
          </a:solidFill>
          <a:ln cap="flat" cmpd="sng" w="25400">
            <a:solidFill>
              <a:srgbClr val="E87722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7"/>
          <p:cNvSpPr/>
          <p:nvPr/>
        </p:nvSpPr>
        <p:spPr>
          <a:xfrm>
            <a:off x="5349240" y="2240280"/>
            <a:ext cx="64008" cy="1188720"/>
          </a:xfrm>
          <a:prstGeom prst="rect">
            <a:avLst/>
          </a:prstGeom>
          <a:solidFill>
            <a:srgbClr val="E87722"/>
          </a:solidFill>
          <a:ln cap="flat" cmpd="sng" w="12700">
            <a:solidFill>
              <a:srgbClr val="E877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7"/>
          <p:cNvSpPr/>
          <p:nvPr/>
        </p:nvSpPr>
        <p:spPr>
          <a:xfrm>
            <a:off x="5577840" y="2331720"/>
            <a:ext cx="3108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772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87722"/>
                </a:solidFill>
                <a:latin typeface="Calibri"/>
                <a:ea typeface="Calibri"/>
                <a:cs typeface="Calibri"/>
                <a:sym typeface="Calibri"/>
              </a:rPr>
              <a:t>Torque Mode (1:2.5 ratio)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7"/>
          <p:cNvSpPr/>
          <p:nvPr/>
        </p:nvSpPr>
        <p:spPr>
          <a:xfrm>
            <a:off x="5577840" y="2697480"/>
            <a:ext cx="31089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898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898B8"/>
                </a:solidFill>
                <a:latin typeface="Calibri"/>
                <a:ea typeface="Calibri"/>
                <a:cs typeface="Calibri"/>
                <a:sym typeface="Calibri"/>
              </a:rPr>
              <a:t>Small gear drives large gear — slower but stronger to push and lift mission models.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7"/>
          <p:cNvSpPr/>
          <p:nvPr/>
        </p:nvSpPr>
        <p:spPr>
          <a:xfrm>
            <a:off x="5349240" y="3657600"/>
            <a:ext cx="3520440" cy="1188720"/>
          </a:xfrm>
          <a:prstGeom prst="rect">
            <a:avLst/>
          </a:prstGeom>
          <a:solidFill>
            <a:srgbClr val="1C1C30"/>
          </a:solidFill>
          <a:ln cap="flat" cmpd="sng" w="254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7"/>
          <p:cNvSpPr/>
          <p:nvPr/>
        </p:nvSpPr>
        <p:spPr>
          <a:xfrm>
            <a:off x="5349240" y="3657600"/>
            <a:ext cx="64008" cy="118872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7"/>
          <p:cNvSpPr/>
          <p:nvPr/>
        </p:nvSpPr>
        <p:spPr>
          <a:xfrm>
            <a:off x="5577840" y="3749040"/>
            <a:ext cx="3108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3-Axis Gear Rotation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7"/>
          <p:cNvSpPr/>
          <p:nvPr/>
        </p:nvSpPr>
        <p:spPr>
          <a:xfrm>
            <a:off x="5577840" y="4114800"/>
            <a:ext cx="31089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898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898B8"/>
                </a:solidFill>
                <a:latin typeface="Calibri"/>
                <a:ea typeface="Calibri"/>
                <a:cs typeface="Calibri"/>
                <a:sym typeface="Calibri"/>
              </a:rPr>
              <a:t>Gears rotate on X, Y, and Z axes simultaneously — enabling complex multi-plane motion no single-axis design can achieve.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7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E87722"/>
          </a:solidFill>
          <a:ln cap="flat" cmpd="sng" w="12700">
            <a:solidFill>
              <a:srgbClr val="E877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1A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4" name="Google Shape;274;p8"/>
          <p:cNvCxnSpPr/>
          <p:nvPr/>
        </p:nvCxnSpPr>
        <p:spPr>
          <a:xfrm>
            <a:off x="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A2A45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75" name="Google Shape;275;p8"/>
          <p:cNvCxnSpPr/>
          <p:nvPr/>
        </p:nvCxnSpPr>
        <p:spPr>
          <a:xfrm>
            <a:off x="11430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A2A45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76" name="Google Shape;276;p8"/>
          <p:cNvCxnSpPr/>
          <p:nvPr/>
        </p:nvCxnSpPr>
        <p:spPr>
          <a:xfrm>
            <a:off x="22860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A2A45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77" name="Google Shape;277;p8"/>
          <p:cNvCxnSpPr/>
          <p:nvPr/>
        </p:nvCxnSpPr>
        <p:spPr>
          <a:xfrm>
            <a:off x="34290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A2A45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78" name="Google Shape;278;p8"/>
          <p:cNvCxnSpPr/>
          <p:nvPr/>
        </p:nvCxnSpPr>
        <p:spPr>
          <a:xfrm>
            <a:off x="45720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A2A45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79" name="Google Shape;279;p8"/>
          <p:cNvCxnSpPr/>
          <p:nvPr/>
        </p:nvCxnSpPr>
        <p:spPr>
          <a:xfrm>
            <a:off x="57150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A2A45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80" name="Google Shape;280;p8"/>
          <p:cNvCxnSpPr/>
          <p:nvPr/>
        </p:nvCxnSpPr>
        <p:spPr>
          <a:xfrm>
            <a:off x="68580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A2A45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81" name="Google Shape;281;p8"/>
          <p:cNvCxnSpPr/>
          <p:nvPr/>
        </p:nvCxnSpPr>
        <p:spPr>
          <a:xfrm>
            <a:off x="80010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A2A45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82" name="Google Shape;282;p8"/>
          <p:cNvCxnSpPr/>
          <p:nvPr/>
        </p:nvCxnSpPr>
        <p:spPr>
          <a:xfrm>
            <a:off x="91440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A2A45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83" name="Google Shape;283;p8"/>
          <p:cNvCxnSpPr/>
          <p:nvPr/>
        </p:nvCxnSpPr>
        <p:spPr>
          <a:xfrm>
            <a:off x="0" y="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2A2A45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84" name="Google Shape;284;p8"/>
          <p:cNvCxnSpPr/>
          <p:nvPr/>
        </p:nvCxnSpPr>
        <p:spPr>
          <a:xfrm>
            <a:off x="0" y="128016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2A2A45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85" name="Google Shape;285;p8"/>
          <p:cNvCxnSpPr/>
          <p:nvPr/>
        </p:nvCxnSpPr>
        <p:spPr>
          <a:xfrm>
            <a:off x="0" y="256032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2A2A45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86" name="Google Shape;286;p8"/>
          <p:cNvCxnSpPr/>
          <p:nvPr/>
        </p:nvCxnSpPr>
        <p:spPr>
          <a:xfrm>
            <a:off x="0" y="384048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2A2A45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87" name="Google Shape;287;p8"/>
          <p:cNvCxnSpPr/>
          <p:nvPr/>
        </p:nvCxnSpPr>
        <p:spPr>
          <a:xfrm>
            <a:off x="0" y="512064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2A2A45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88" name="Google Shape;288;p8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5C518"/>
          </a:solidFill>
          <a:ln cap="flat" cmpd="sng" w="12700">
            <a:solidFill>
              <a:srgbClr val="F5C5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8"/>
          <p:cNvSpPr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2600"/>
              <a:buFont typeface="Arial Black"/>
              <a:buNone/>
            </a:pPr>
            <a:r>
              <a:rPr b="1" i="0" lang="en-US" sz="2600" u="none" cap="none" strike="noStrike">
                <a:solidFill>
                  <a:srgbClr val="F4F4F4"/>
                </a:solidFill>
                <a:latin typeface="Arial Black"/>
                <a:ea typeface="Arial Black"/>
                <a:cs typeface="Arial Black"/>
                <a:sym typeface="Arial Black"/>
              </a:rPr>
              <a:t>WHY THIS DESIGN WINS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8"/>
          <p:cNvSpPr/>
          <p:nvPr/>
        </p:nvSpPr>
        <p:spPr>
          <a:xfrm>
            <a:off x="457200" y="86868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898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898B8"/>
                </a:solidFill>
                <a:latin typeface="Calibri"/>
                <a:ea typeface="Calibri"/>
                <a:cs typeface="Calibri"/>
                <a:sym typeface="Calibri"/>
              </a:rPr>
              <a:t>SLIDE 06  ·  CONCLUSION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8"/>
          <p:cNvSpPr/>
          <p:nvPr/>
        </p:nvSpPr>
        <p:spPr>
          <a:xfrm>
            <a:off x="365760" y="1325880"/>
            <a:ext cx="4114800" cy="1417320"/>
          </a:xfrm>
          <a:prstGeom prst="rect">
            <a:avLst/>
          </a:prstGeom>
          <a:solidFill>
            <a:srgbClr val="1C1C30"/>
          </a:solidFill>
          <a:ln cap="flat" cmpd="sng" w="25400">
            <a:solidFill>
              <a:srgbClr val="F5C51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8"/>
          <p:cNvSpPr/>
          <p:nvPr/>
        </p:nvSpPr>
        <p:spPr>
          <a:xfrm>
            <a:off x="365760" y="1325880"/>
            <a:ext cx="64008" cy="1417320"/>
          </a:xfrm>
          <a:prstGeom prst="rect">
            <a:avLst/>
          </a:prstGeom>
          <a:solidFill>
            <a:srgbClr val="F5C518"/>
          </a:solidFill>
          <a:ln cap="flat" cmpd="sng" w="12700">
            <a:solidFill>
              <a:srgbClr val="F5C5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8"/>
          <p:cNvSpPr/>
          <p:nvPr/>
        </p:nvSpPr>
        <p:spPr>
          <a:xfrm>
            <a:off x="429768" y="1325880"/>
            <a:ext cx="685800" cy="1417320"/>
          </a:xfrm>
          <a:prstGeom prst="rect">
            <a:avLst/>
          </a:prstGeom>
          <a:solidFill>
            <a:srgbClr val="F5C518">
              <a:alpha val="85098"/>
            </a:srgbClr>
          </a:solidFill>
          <a:ln cap="flat" cmpd="sng" w="12700">
            <a:solidFill>
              <a:srgbClr val="F5C5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8"/>
          <p:cNvSpPr/>
          <p:nvPr/>
        </p:nvSpPr>
        <p:spPr>
          <a:xfrm>
            <a:off x="429768" y="1325880"/>
            <a:ext cx="68580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C518"/>
              </a:buClr>
              <a:buSzPts val="2000"/>
              <a:buFont typeface="Arial Black"/>
              <a:buNone/>
            </a:pPr>
            <a:r>
              <a:rPr b="1" i="0" lang="en-US" sz="2000" u="none" cap="none" strike="noStrike">
                <a:solidFill>
                  <a:srgbClr val="F5C518"/>
                </a:solidFill>
                <a:latin typeface="Arial Black"/>
                <a:ea typeface="Arial Black"/>
                <a:cs typeface="Arial Black"/>
                <a:sym typeface="Arial Black"/>
              </a:rPr>
              <a:t>01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8"/>
          <p:cNvSpPr/>
          <p:nvPr/>
        </p:nvSpPr>
        <p:spPr>
          <a:xfrm>
            <a:off x="1188720" y="1490472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C51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5C518"/>
                </a:solidFill>
                <a:latin typeface="Calibri"/>
                <a:ea typeface="Calibri"/>
                <a:cs typeface="Calibri"/>
                <a:sym typeface="Calibri"/>
              </a:rPr>
              <a:t>EFFICIENCY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8"/>
          <p:cNvSpPr/>
          <p:nvPr/>
        </p:nvSpPr>
        <p:spPr>
          <a:xfrm>
            <a:off x="1188720" y="1874520"/>
            <a:ext cx="306324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898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898B8"/>
                </a:solidFill>
                <a:latin typeface="Calibri"/>
                <a:ea typeface="Calibri"/>
                <a:cs typeface="Calibri"/>
                <a:sym typeface="Calibri"/>
              </a:rPr>
              <a:t>Simultaneous movement + arm action means fewer steps per mission, saving time on the clock.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8"/>
          <p:cNvSpPr/>
          <p:nvPr/>
        </p:nvSpPr>
        <p:spPr>
          <a:xfrm>
            <a:off x="4709160" y="1325880"/>
            <a:ext cx="4114800" cy="1417320"/>
          </a:xfrm>
          <a:prstGeom prst="rect">
            <a:avLst/>
          </a:prstGeom>
          <a:solidFill>
            <a:srgbClr val="1C1C30"/>
          </a:solidFill>
          <a:ln cap="flat" cmpd="sng" w="25400">
            <a:solidFill>
              <a:srgbClr val="E87722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8"/>
          <p:cNvSpPr/>
          <p:nvPr/>
        </p:nvSpPr>
        <p:spPr>
          <a:xfrm>
            <a:off x="4709160" y="1325880"/>
            <a:ext cx="64008" cy="1417320"/>
          </a:xfrm>
          <a:prstGeom prst="rect">
            <a:avLst/>
          </a:prstGeom>
          <a:solidFill>
            <a:srgbClr val="E87722"/>
          </a:solidFill>
          <a:ln cap="flat" cmpd="sng" w="12700">
            <a:solidFill>
              <a:srgbClr val="E877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8"/>
          <p:cNvSpPr/>
          <p:nvPr/>
        </p:nvSpPr>
        <p:spPr>
          <a:xfrm>
            <a:off x="4773168" y="1325880"/>
            <a:ext cx="685800" cy="1417320"/>
          </a:xfrm>
          <a:prstGeom prst="rect">
            <a:avLst/>
          </a:prstGeom>
          <a:solidFill>
            <a:srgbClr val="E87722">
              <a:alpha val="85098"/>
            </a:srgbClr>
          </a:solidFill>
          <a:ln cap="flat" cmpd="sng" w="12700">
            <a:solidFill>
              <a:srgbClr val="E877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8"/>
          <p:cNvSpPr/>
          <p:nvPr/>
        </p:nvSpPr>
        <p:spPr>
          <a:xfrm>
            <a:off x="4773168" y="1325880"/>
            <a:ext cx="68580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7722"/>
              </a:buClr>
              <a:buSzPts val="2000"/>
              <a:buFont typeface="Arial Black"/>
              <a:buNone/>
            </a:pPr>
            <a:r>
              <a:rPr b="1" i="0" lang="en-US" sz="2000" u="none" cap="none" strike="noStrike">
                <a:solidFill>
                  <a:srgbClr val="E87722"/>
                </a:solidFill>
                <a:latin typeface="Arial Black"/>
                <a:ea typeface="Arial Black"/>
                <a:cs typeface="Arial Black"/>
                <a:sym typeface="Arial Black"/>
              </a:rPr>
              <a:t>02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8"/>
          <p:cNvSpPr/>
          <p:nvPr/>
        </p:nvSpPr>
        <p:spPr>
          <a:xfrm>
            <a:off x="5532120" y="1490472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772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87722"/>
                </a:solidFill>
                <a:latin typeface="Calibri"/>
                <a:ea typeface="Calibri"/>
                <a:cs typeface="Calibri"/>
                <a:sym typeface="Calibri"/>
              </a:rPr>
              <a:t>ADAPTABILITY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8"/>
          <p:cNvSpPr/>
          <p:nvPr/>
        </p:nvSpPr>
        <p:spPr>
          <a:xfrm>
            <a:off x="5532120" y="1874520"/>
            <a:ext cx="306324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898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898B8"/>
                </a:solidFill>
                <a:latin typeface="Calibri"/>
                <a:ea typeface="Calibri"/>
                <a:cs typeface="Calibri"/>
                <a:sym typeface="Calibri"/>
              </a:rPr>
              <a:t>Variable gear ratios let us handle both delicate placements and forceful pushes with the same robot.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8"/>
          <p:cNvSpPr/>
          <p:nvPr/>
        </p:nvSpPr>
        <p:spPr>
          <a:xfrm>
            <a:off x="365760" y="2926080"/>
            <a:ext cx="4114800" cy="1417320"/>
          </a:xfrm>
          <a:prstGeom prst="rect">
            <a:avLst/>
          </a:prstGeom>
          <a:solidFill>
            <a:srgbClr val="1C1C30"/>
          </a:solidFill>
          <a:ln cap="flat" cmpd="sng" w="254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8"/>
          <p:cNvSpPr/>
          <p:nvPr/>
        </p:nvSpPr>
        <p:spPr>
          <a:xfrm>
            <a:off x="365760" y="2926080"/>
            <a:ext cx="64008" cy="141732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8"/>
          <p:cNvSpPr/>
          <p:nvPr/>
        </p:nvSpPr>
        <p:spPr>
          <a:xfrm>
            <a:off x="429768" y="2926080"/>
            <a:ext cx="685800" cy="1417320"/>
          </a:xfrm>
          <a:prstGeom prst="rect">
            <a:avLst/>
          </a:prstGeom>
          <a:solidFill>
            <a:srgbClr val="00B4D8">
              <a:alpha val="85098"/>
            </a:srgbClr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8"/>
          <p:cNvSpPr/>
          <p:nvPr/>
        </p:nvSpPr>
        <p:spPr>
          <a:xfrm>
            <a:off x="429768" y="2926080"/>
            <a:ext cx="68580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2000"/>
              <a:buFont typeface="Arial Black"/>
              <a:buNone/>
            </a:pPr>
            <a:r>
              <a:rPr b="1" i="0" lang="en-US" sz="2000" u="none" cap="none" strike="noStrike">
                <a:solidFill>
                  <a:srgbClr val="00B4D8"/>
                </a:solidFill>
                <a:latin typeface="Arial Black"/>
                <a:ea typeface="Arial Black"/>
                <a:cs typeface="Arial Black"/>
                <a:sym typeface="Arial Black"/>
              </a:rPr>
              <a:t>03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8"/>
          <p:cNvSpPr/>
          <p:nvPr/>
        </p:nvSpPr>
        <p:spPr>
          <a:xfrm>
            <a:off x="1188720" y="3090672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PRECISION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8"/>
          <p:cNvSpPr/>
          <p:nvPr/>
        </p:nvSpPr>
        <p:spPr>
          <a:xfrm>
            <a:off x="1188720" y="3474720"/>
            <a:ext cx="306324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898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898B8"/>
                </a:solidFill>
                <a:latin typeface="Calibri"/>
                <a:ea typeface="Calibri"/>
                <a:cs typeface="Calibri"/>
                <a:sym typeface="Calibri"/>
              </a:rPr>
              <a:t>Independent motor control gives us fine-grained steering — critical for reaching tight mission zones.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8"/>
          <p:cNvSpPr/>
          <p:nvPr/>
        </p:nvSpPr>
        <p:spPr>
          <a:xfrm>
            <a:off x="4709160" y="2926080"/>
            <a:ext cx="4114800" cy="1417320"/>
          </a:xfrm>
          <a:prstGeom prst="rect">
            <a:avLst/>
          </a:prstGeom>
          <a:solidFill>
            <a:srgbClr val="1C1C30"/>
          </a:solidFill>
          <a:ln cap="flat" cmpd="sng" w="25400">
            <a:solidFill>
              <a:srgbClr val="CC2222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8"/>
          <p:cNvSpPr/>
          <p:nvPr/>
        </p:nvSpPr>
        <p:spPr>
          <a:xfrm>
            <a:off x="4709160" y="2926080"/>
            <a:ext cx="64008" cy="1417320"/>
          </a:xfrm>
          <a:prstGeom prst="rect">
            <a:avLst/>
          </a:prstGeom>
          <a:solidFill>
            <a:srgbClr val="CC2222"/>
          </a:solidFill>
          <a:ln cap="flat" cmpd="sng" w="12700">
            <a:solidFill>
              <a:srgbClr val="CC22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8"/>
          <p:cNvSpPr/>
          <p:nvPr/>
        </p:nvSpPr>
        <p:spPr>
          <a:xfrm>
            <a:off x="4773168" y="2926080"/>
            <a:ext cx="685800" cy="1417320"/>
          </a:xfrm>
          <a:prstGeom prst="rect">
            <a:avLst/>
          </a:prstGeom>
          <a:solidFill>
            <a:srgbClr val="CC2222">
              <a:alpha val="85098"/>
            </a:srgbClr>
          </a:solidFill>
          <a:ln cap="flat" cmpd="sng" w="12700">
            <a:solidFill>
              <a:srgbClr val="CC22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8"/>
          <p:cNvSpPr/>
          <p:nvPr/>
        </p:nvSpPr>
        <p:spPr>
          <a:xfrm>
            <a:off x="4773168" y="2926080"/>
            <a:ext cx="68580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C2222"/>
              </a:buClr>
              <a:buSzPts val="2000"/>
              <a:buFont typeface="Arial Black"/>
              <a:buNone/>
            </a:pPr>
            <a:r>
              <a:rPr b="1" i="0" lang="en-US" sz="2000" u="none" cap="none" strike="noStrike">
                <a:solidFill>
                  <a:srgbClr val="CC2222"/>
                </a:solidFill>
                <a:latin typeface="Arial Black"/>
                <a:ea typeface="Arial Black"/>
                <a:cs typeface="Arial Black"/>
                <a:sym typeface="Arial Black"/>
              </a:rPr>
              <a:t>04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8"/>
          <p:cNvSpPr/>
          <p:nvPr/>
        </p:nvSpPr>
        <p:spPr>
          <a:xfrm>
            <a:off x="5532120" y="3090672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222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CC2222"/>
                </a:solidFill>
                <a:latin typeface="Calibri"/>
                <a:ea typeface="Calibri"/>
                <a:cs typeface="Calibri"/>
                <a:sym typeface="Calibri"/>
              </a:rPr>
              <a:t>RELIABILITY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8"/>
          <p:cNvSpPr/>
          <p:nvPr/>
        </p:nvSpPr>
        <p:spPr>
          <a:xfrm>
            <a:off x="5532120" y="3474720"/>
            <a:ext cx="306324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898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898B8"/>
                </a:solidFill>
                <a:latin typeface="Calibri"/>
                <a:ea typeface="Calibri"/>
                <a:cs typeface="Calibri"/>
                <a:sym typeface="Calibri"/>
              </a:rPr>
              <a:t>Gear-based torque is more consistent than motor speed alone, reducing mission failures under load.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8"/>
          <p:cNvSpPr/>
          <p:nvPr/>
        </p:nvSpPr>
        <p:spPr>
          <a:xfrm>
            <a:off x="365760" y="4480560"/>
            <a:ext cx="8412480" cy="502920"/>
          </a:xfrm>
          <a:prstGeom prst="rect">
            <a:avLst/>
          </a:prstGeom>
          <a:solidFill>
            <a:srgbClr val="1C1C30"/>
          </a:solidFill>
          <a:ln cap="flat" cmpd="sng" w="25400">
            <a:solidFill>
              <a:srgbClr val="F5C51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8"/>
          <p:cNvSpPr/>
          <p:nvPr/>
        </p:nvSpPr>
        <p:spPr>
          <a:xfrm>
            <a:off x="365760" y="4480560"/>
            <a:ext cx="64008" cy="502920"/>
          </a:xfrm>
          <a:prstGeom prst="rect">
            <a:avLst/>
          </a:prstGeom>
          <a:solidFill>
            <a:srgbClr val="F5C518"/>
          </a:solidFill>
          <a:ln cap="flat" cmpd="sng" w="12700">
            <a:solidFill>
              <a:srgbClr val="F5C5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8"/>
          <p:cNvSpPr/>
          <p:nvPr/>
        </p:nvSpPr>
        <p:spPr>
          <a:xfrm>
            <a:off x="594360" y="448056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C518"/>
              </a:buClr>
              <a:buSzPts val="1300"/>
              <a:buFont typeface="Calibri"/>
              <a:buNone/>
            </a:pPr>
            <a:r>
              <a:rPr b="1" i="1" lang="en-US" sz="1300" u="none" cap="none" strike="noStrike">
                <a:solidFill>
                  <a:srgbClr val="F5C518"/>
                </a:solidFill>
                <a:latin typeface="Calibri"/>
                <a:ea typeface="Calibri"/>
                <a:cs typeface="Calibri"/>
                <a:sym typeface="Calibri"/>
              </a:rPr>
              <a:t>"Built for the field. Designed to win."  —  FLL 2026 · Unearthed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8"/>
          <p:cNvSpPr/>
          <p:nvPr/>
        </p:nvSpPr>
        <p:spPr>
          <a:xfrm>
            <a:off x="1188720" y="137160"/>
            <a:ext cx="201168" cy="201168"/>
          </a:xfrm>
          <a:prstGeom prst="ellipse">
            <a:avLst/>
          </a:prstGeom>
          <a:solidFill>
            <a:srgbClr val="0D0D1A">
              <a:alpha val="80000"/>
            </a:srgbClr>
          </a:solidFill>
          <a:ln cap="flat" cmpd="sng" w="12700">
            <a:solidFill>
              <a:srgbClr val="0D0D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8"/>
          <p:cNvSpPr/>
          <p:nvPr/>
        </p:nvSpPr>
        <p:spPr>
          <a:xfrm>
            <a:off x="2103120" y="137160"/>
            <a:ext cx="201168" cy="201168"/>
          </a:xfrm>
          <a:prstGeom prst="ellipse">
            <a:avLst/>
          </a:prstGeom>
          <a:solidFill>
            <a:srgbClr val="0D0D1A">
              <a:alpha val="80000"/>
            </a:srgbClr>
          </a:solidFill>
          <a:ln cap="flat" cmpd="sng" w="12700">
            <a:solidFill>
              <a:srgbClr val="0D0D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8"/>
          <p:cNvSpPr/>
          <p:nvPr/>
        </p:nvSpPr>
        <p:spPr>
          <a:xfrm>
            <a:off x="3017520" y="137160"/>
            <a:ext cx="201168" cy="201168"/>
          </a:xfrm>
          <a:prstGeom prst="ellipse">
            <a:avLst/>
          </a:prstGeom>
          <a:solidFill>
            <a:srgbClr val="0D0D1A">
              <a:alpha val="80000"/>
            </a:srgbClr>
          </a:solidFill>
          <a:ln cap="flat" cmpd="sng" w="12700">
            <a:solidFill>
              <a:srgbClr val="0D0D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8"/>
          <p:cNvSpPr/>
          <p:nvPr/>
        </p:nvSpPr>
        <p:spPr>
          <a:xfrm>
            <a:off x="3931920" y="137160"/>
            <a:ext cx="201168" cy="201168"/>
          </a:xfrm>
          <a:prstGeom prst="ellipse">
            <a:avLst/>
          </a:prstGeom>
          <a:solidFill>
            <a:srgbClr val="0D0D1A">
              <a:alpha val="80000"/>
            </a:srgbClr>
          </a:solidFill>
          <a:ln cap="flat" cmpd="sng" w="12700">
            <a:solidFill>
              <a:srgbClr val="0D0D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8"/>
          <p:cNvSpPr/>
          <p:nvPr/>
        </p:nvSpPr>
        <p:spPr>
          <a:xfrm>
            <a:off x="4846320" y="137160"/>
            <a:ext cx="201168" cy="201168"/>
          </a:xfrm>
          <a:prstGeom prst="ellipse">
            <a:avLst/>
          </a:prstGeom>
          <a:solidFill>
            <a:srgbClr val="0D0D1A">
              <a:alpha val="80000"/>
            </a:srgbClr>
          </a:solidFill>
          <a:ln cap="flat" cmpd="sng" w="12700">
            <a:solidFill>
              <a:srgbClr val="0D0D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8"/>
          <p:cNvSpPr/>
          <p:nvPr/>
        </p:nvSpPr>
        <p:spPr>
          <a:xfrm>
            <a:off x="5760720" y="137160"/>
            <a:ext cx="201168" cy="201168"/>
          </a:xfrm>
          <a:prstGeom prst="ellipse">
            <a:avLst/>
          </a:prstGeom>
          <a:solidFill>
            <a:srgbClr val="0D0D1A">
              <a:alpha val="80000"/>
            </a:srgbClr>
          </a:solidFill>
          <a:ln cap="flat" cmpd="sng" w="12700">
            <a:solidFill>
              <a:srgbClr val="0D0D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8"/>
          <p:cNvSpPr/>
          <p:nvPr/>
        </p:nvSpPr>
        <p:spPr>
          <a:xfrm>
            <a:off x="6675120" y="137160"/>
            <a:ext cx="201168" cy="201168"/>
          </a:xfrm>
          <a:prstGeom prst="ellipse">
            <a:avLst/>
          </a:prstGeom>
          <a:solidFill>
            <a:srgbClr val="0D0D1A">
              <a:alpha val="80000"/>
            </a:srgbClr>
          </a:solidFill>
          <a:ln cap="flat" cmpd="sng" w="12700">
            <a:solidFill>
              <a:srgbClr val="0D0D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8"/>
          <p:cNvSpPr/>
          <p:nvPr/>
        </p:nvSpPr>
        <p:spPr>
          <a:xfrm>
            <a:off x="7589520" y="137160"/>
            <a:ext cx="201168" cy="201168"/>
          </a:xfrm>
          <a:prstGeom prst="ellipse">
            <a:avLst/>
          </a:prstGeom>
          <a:solidFill>
            <a:srgbClr val="0D0D1A">
              <a:alpha val="80000"/>
            </a:srgbClr>
          </a:solidFill>
          <a:ln cap="flat" cmpd="sng" w="12700">
            <a:solidFill>
              <a:srgbClr val="0D0D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8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F5C518"/>
          </a:solidFill>
          <a:ln cap="flat" cmpd="sng" w="12700">
            <a:solidFill>
              <a:srgbClr val="F5C5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